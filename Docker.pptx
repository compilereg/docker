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5.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1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33.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11.xml.rels" ContentType="application/vnd.openxmlformats-package.relationships+xml"/>
  <Override PartName="/ppt/notesSlides/_rels/notesSlide26.xml.rels" ContentType="application/vnd.openxmlformats-package.relationships+xml"/>
  <Override PartName="/ppt/notesSlides/_rels/notesSlide15.xml.rels" ContentType="application/vnd.openxmlformats-package.relationships+xml"/>
  <Override PartName="/ppt/notesSlides/_rels/notesSlide31.xml.rels" ContentType="application/vnd.openxmlformats-package.relationships+xml"/>
  <Override PartName="/ppt/notesSlides/_rels/notesSlide22.xml.rels" ContentType="application/vnd.openxmlformats-package.relationships+xml"/>
  <Override PartName="/ppt/notesSlides/_rels/notesSlide32.xml.rels" ContentType="application/vnd.openxmlformats-package.relationships+xml"/>
  <Override PartName="/ppt/notesSlides/_rels/notesSlide16.xml.rels" ContentType="application/vnd.openxmlformats-package.relationships+xml"/>
  <Override PartName="/ppt/notesSlides/_rels/notesSlide23.xml.rels" ContentType="application/vnd.openxmlformats-package.relationships+xml"/>
  <Override PartName="/ppt/notesSlides/_rels/notesSlide17.xml.rels" ContentType="application/vnd.openxmlformats-package.relationships+xml"/>
  <Override PartName="/ppt/notesSlides/_rels/notesSlide24.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1.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notesSlide17.xml" ContentType="application/vnd.openxmlformats-officedocument.presentationml.notesSlide+xml"/>
  <Override PartName="/ppt/notesSlides/notesSlide8.xml" ContentType="application/vnd.openxmlformats-officedocument.presentationml.notes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5.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33.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2.png" ContentType="image/png"/>
  <Override PartName="/ppt/media/image3.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slide30.xml" ContentType="application/vnd.openxmlformats-officedocument.presentationml.slide+xml"/>
  <Override PartName="/ppt/slides/slide5.xml" ContentType="application/vnd.openxmlformats-officedocument.presentationml.slide+xml"/>
  <Override PartName="/ppt/slides/slide31.xml" ContentType="application/vnd.openxmlformats-officedocument.presentationml.slide+xml"/>
  <Override PartName="/ppt/slides/slide6.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8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88"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89" name="PlaceHolder 4"/>
          <p:cNvSpPr>
            <a:spLocks noGrp="1"/>
          </p:cNvSpPr>
          <p:nvPr>
            <p:ph type="dt" idx="7"/>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90" name="PlaceHolder 5"/>
          <p:cNvSpPr>
            <a:spLocks noGrp="1"/>
          </p:cNvSpPr>
          <p:nvPr>
            <p:ph type="ftr" idx="8"/>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91" name="PlaceHolder 6"/>
          <p:cNvSpPr>
            <a:spLocks noGrp="1"/>
          </p:cNvSpPr>
          <p:nvPr>
            <p:ph type="sldNum" idx="9"/>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2A441134-7C93-487B-BA01-20B335B8B736}"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5680" cy="3085560"/>
          </a:xfrm>
          <a:prstGeom prst="rect">
            <a:avLst/>
          </a:prstGeom>
          <a:ln w="0">
            <a:noFill/>
          </a:ln>
        </p:spPr>
      </p:sp>
      <p:sp>
        <p:nvSpPr>
          <p:cNvPr id="16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66" name="PlaceHolder 3"/>
          <p:cNvSpPr>
            <a:spLocks noGrp="1"/>
          </p:cNvSpPr>
          <p:nvPr>
            <p:ph type="sldNum" idx="10"/>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54B22CC-4828-4001-96D6-D60A06815D1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5680" cy="3085560"/>
          </a:xfrm>
          <a:prstGeom prst="rect">
            <a:avLst/>
          </a:prstGeom>
          <a:ln w="0">
            <a:noFill/>
          </a:ln>
        </p:spPr>
      </p:sp>
      <p:sp>
        <p:nvSpPr>
          <p:cNvPr id="16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69" name="PlaceHolder 3"/>
          <p:cNvSpPr>
            <a:spLocks noGrp="1"/>
          </p:cNvSpPr>
          <p:nvPr>
            <p:ph type="sldNum" idx="11"/>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4EF1E72-F6C4-4B76-9B17-0841F5FEDB1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5680" cy="3085560"/>
          </a:xfrm>
          <a:prstGeom prst="rect">
            <a:avLst/>
          </a:prstGeom>
          <a:ln w="0">
            <a:noFill/>
          </a:ln>
        </p:spPr>
      </p:sp>
      <p:sp>
        <p:nvSpPr>
          <p:cNvPr id="17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72" name="PlaceHolder 3"/>
          <p:cNvSpPr>
            <a:spLocks noGrp="1"/>
          </p:cNvSpPr>
          <p:nvPr>
            <p:ph type="sldNum" idx="12"/>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AEA7787-CE3C-4F73-B8C2-486DDFEC5DC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5680" cy="3085560"/>
          </a:xfrm>
          <a:prstGeom prst="rect">
            <a:avLst/>
          </a:prstGeom>
          <a:ln w="0">
            <a:noFill/>
          </a:ln>
        </p:spPr>
      </p:sp>
      <p:sp>
        <p:nvSpPr>
          <p:cNvPr id="17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75" name="PlaceHolder 3"/>
          <p:cNvSpPr>
            <a:spLocks noGrp="1"/>
          </p:cNvSpPr>
          <p:nvPr>
            <p:ph type="sldNum" idx="13"/>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C321667-B4FC-4DCC-9A35-1B2E5E7BD2E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5680" cy="3085560"/>
          </a:xfrm>
          <a:prstGeom prst="rect">
            <a:avLst/>
          </a:prstGeom>
          <a:ln w="0">
            <a:noFill/>
          </a:ln>
        </p:spPr>
      </p:sp>
      <p:sp>
        <p:nvSpPr>
          <p:cNvPr id="17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78" name="PlaceHolder 3"/>
          <p:cNvSpPr>
            <a:spLocks noGrp="1"/>
          </p:cNvSpPr>
          <p:nvPr>
            <p:ph type="sldNum" idx="1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44A9FCA-B33D-470F-AA89-9DD20D01914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5680" cy="3085560"/>
          </a:xfrm>
          <a:prstGeom prst="rect">
            <a:avLst/>
          </a:prstGeom>
          <a:ln w="0">
            <a:noFill/>
          </a:ln>
        </p:spPr>
      </p:sp>
      <p:sp>
        <p:nvSpPr>
          <p:cNvPr id="18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pPr marL="228600" indent="-228600">
              <a:lnSpc>
                <a:spcPct val="100000"/>
              </a:lnSpc>
              <a:buClr>
                <a:srgbClr val="000000"/>
              </a:buClr>
              <a:buFont typeface="StarSymbol"/>
              <a:buAutoNum type="arabicPeriod"/>
            </a:pPr>
            <a:r>
              <a:rPr b="1" lang="en-US" sz="2000" spc="-1" strike="noStrike">
                <a:latin typeface="Arial"/>
              </a:rPr>
              <a:t>No Single point of failure</a:t>
            </a:r>
            <a:r>
              <a:rPr b="0" lang="en-US" sz="2000" spc="-1" strike="noStrike">
                <a:latin typeface="Arial"/>
              </a:rPr>
              <a:t> — We’ve all been in that situation where an error in a tiny function crashes an entire application with functionalities not even related to it i.e., Single point of failure. Docker helps you in preventing this situation. You can break a huge monolithic app into multiple microservices, helping you with easier deployments.</a:t>
            </a:r>
            <a:endParaRPr b="0" lang="en-US" sz="2000" spc="-1" strike="noStrike">
              <a:latin typeface="Arial"/>
            </a:endParaRPr>
          </a:p>
          <a:p>
            <a:pPr marL="228600" indent="-228600">
              <a:lnSpc>
                <a:spcPct val="100000"/>
              </a:lnSpc>
              <a:buClr>
                <a:srgbClr val="000000"/>
              </a:buClr>
              <a:buFont typeface="StarSymbol"/>
              <a:buAutoNum type="arabicPeriod"/>
            </a:pPr>
            <a:r>
              <a:rPr b="1" lang="en-US" sz="2000" spc="-1" strike="noStrike">
                <a:latin typeface="Arial"/>
              </a:rPr>
              <a:t>Scalability</a:t>
            </a:r>
            <a:r>
              <a:rPr b="0" lang="en-US" sz="2000" spc="-1" strike="noStrike">
                <a:latin typeface="Arial"/>
              </a:rPr>
              <a:t> — Containers are quickly scalable with the help of orchestration services like Kubernetes or swarm that helps it in creating and destroying multiple copies of containers very fast.</a:t>
            </a:r>
            <a:r>
              <a:rPr b="1" lang="en-US" sz="2000" spc="-1" strike="noStrike">
                <a:latin typeface="Arial"/>
              </a:rPr>
              <a:t> Scalability</a:t>
            </a:r>
            <a:r>
              <a:rPr b="0" lang="en-US" sz="2000" spc="-1" strike="noStrike">
                <a:latin typeface="Arial"/>
              </a:rPr>
              <a:t> — Containers are quickly scalable with the help of orchestration services like Kubernetes or swarm that helps it in creating and destroying multiple copies of containers very fast.</a:t>
            </a:r>
            <a:endParaRPr b="0" lang="en-US" sz="2000" spc="-1" strike="noStrike">
              <a:latin typeface="Arial"/>
            </a:endParaRPr>
          </a:p>
          <a:p>
            <a:pPr marL="228600" indent="-228600">
              <a:lnSpc>
                <a:spcPct val="100000"/>
              </a:lnSpc>
              <a:buClr>
                <a:srgbClr val="000000"/>
              </a:buClr>
              <a:buFont typeface="StarSymbol"/>
              <a:buAutoNum type="arabicPeriod"/>
            </a:pPr>
            <a:r>
              <a:rPr b="0" lang="en-US" sz="2000" spc="-1" strike="noStrike">
                <a:latin typeface="Arial"/>
              </a:rPr>
              <a:t>Isolation on os level</a:t>
            </a:r>
            <a:endParaRPr b="0" lang="en-US" sz="2000" spc="-1" strike="noStrike">
              <a:latin typeface="Arial"/>
            </a:endParaRPr>
          </a:p>
          <a:p>
            <a:pPr marL="228600" indent="-228600">
              <a:lnSpc>
                <a:spcPct val="100000"/>
              </a:lnSpc>
              <a:buClr>
                <a:srgbClr val="000000"/>
              </a:buClr>
              <a:buFont typeface="StarSymbol"/>
              <a:buAutoNum type="arabicPeriod"/>
            </a:pPr>
            <a:r>
              <a:rPr b="1" lang="en-US" sz="2000" spc="-1" strike="noStrike">
                <a:latin typeface="Arial"/>
              </a:rPr>
              <a:t>Ease of use:</a:t>
            </a:r>
            <a:r>
              <a:rPr b="0" lang="en-US" sz="2000" spc="-1" strike="noStrike">
                <a:latin typeface="Arial"/>
              </a:rPr>
              <a:t> Docker has made it much easier for anyone — developers, systems admins, architects and others — to take advantage of containers in order to quickly build and test portable applications. It allows anyone to package an application on their laptop, which in turn can run unmodified on any public cloud, private cloud, or even bare metal. The mantra is: “build once, run anywhere.”</a:t>
            </a:r>
            <a:endParaRPr b="0" lang="en-US" sz="2000" spc="-1" strike="noStrike">
              <a:latin typeface="Arial"/>
            </a:endParaRPr>
          </a:p>
          <a:p>
            <a:pPr>
              <a:lnSpc>
                <a:spcPct val="100000"/>
              </a:lnSpc>
              <a:buNone/>
            </a:pPr>
            <a:endParaRPr b="0" lang="en-US" sz="2000" spc="-1" strike="noStrike">
              <a:latin typeface="Arial"/>
            </a:endParaRPr>
          </a:p>
        </p:txBody>
      </p:sp>
      <p:sp>
        <p:nvSpPr>
          <p:cNvPr id="181" name="PlaceHolder 3"/>
          <p:cNvSpPr>
            <a:spLocks noGrp="1"/>
          </p:cNvSpPr>
          <p:nvPr>
            <p:ph type="sldNum" idx="1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92C6C10-741D-453F-8073-89A7178E574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685800" y="1143000"/>
            <a:ext cx="5485680" cy="3085560"/>
          </a:xfrm>
          <a:prstGeom prst="rect">
            <a:avLst/>
          </a:prstGeom>
          <a:ln w="0">
            <a:noFill/>
          </a:ln>
        </p:spPr>
      </p:sp>
      <p:sp>
        <p:nvSpPr>
          <p:cNvPr id="18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84" name="PlaceHolder 3"/>
          <p:cNvSpPr>
            <a:spLocks noGrp="1"/>
          </p:cNvSpPr>
          <p:nvPr>
            <p:ph type="sldNum" idx="1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A03D405-EDF4-40ED-91DA-2051522D4DD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5680" cy="3085560"/>
          </a:xfrm>
          <a:prstGeom prst="rect">
            <a:avLst/>
          </a:prstGeom>
          <a:ln w="0">
            <a:noFill/>
          </a:ln>
        </p:spPr>
      </p:sp>
      <p:sp>
        <p:nvSpPr>
          <p:cNvPr id="18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87" name="PlaceHolder 3"/>
          <p:cNvSpPr>
            <a:spLocks noGrp="1"/>
          </p:cNvSpPr>
          <p:nvPr>
            <p:ph type="sldNum" idx="1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10FF6FF-8957-4224-B063-A0E7185D320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5680" cy="3085560"/>
          </a:xfrm>
          <a:prstGeom prst="rect">
            <a:avLst/>
          </a:prstGeom>
          <a:ln w="0">
            <a:noFill/>
          </a:ln>
        </p:spPr>
      </p:sp>
      <p:sp>
        <p:nvSpPr>
          <p:cNvPr id="18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90" name="PlaceHolder 3"/>
          <p:cNvSpPr>
            <a:spLocks noGrp="1"/>
          </p:cNvSpPr>
          <p:nvPr>
            <p:ph type="sldNum" idx="18"/>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7DDBEE0-E912-47C9-A30B-AE3181D2937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5680" cy="3085560"/>
          </a:xfrm>
          <a:prstGeom prst="rect">
            <a:avLst/>
          </a:prstGeom>
          <a:ln w="0">
            <a:noFill/>
          </a:ln>
        </p:spPr>
      </p:sp>
      <p:sp>
        <p:nvSpPr>
          <p:cNvPr id="19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93" name="PlaceHolder 3"/>
          <p:cNvSpPr>
            <a:spLocks noGrp="1"/>
          </p:cNvSpPr>
          <p:nvPr>
            <p:ph type="sldNum" idx="19"/>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63C3355-58D7-475A-B136-2D157E8B18D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5680" cy="3085560"/>
          </a:xfrm>
          <a:prstGeom prst="rect">
            <a:avLst/>
          </a:prstGeom>
          <a:ln w="0">
            <a:noFill/>
          </a:ln>
        </p:spPr>
      </p:sp>
      <p:sp>
        <p:nvSpPr>
          <p:cNvPr id="19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96" name="PlaceHolder 3"/>
          <p:cNvSpPr>
            <a:spLocks noGrp="1"/>
          </p:cNvSpPr>
          <p:nvPr>
            <p:ph type="sldNum" idx="20"/>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4289C9F-7F03-4DA3-9BD1-FD6E3BC47BA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5680" cy="3085560"/>
          </a:xfrm>
          <a:prstGeom prst="rect">
            <a:avLst/>
          </a:prstGeom>
          <a:ln w="0">
            <a:noFill/>
          </a:ln>
        </p:spPr>
      </p:sp>
      <p:sp>
        <p:nvSpPr>
          <p:cNvPr id="19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99" name="PlaceHolder 3"/>
          <p:cNvSpPr>
            <a:spLocks noGrp="1"/>
          </p:cNvSpPr>
          <p:nvPr>
            <p:ph type="sldNum" idx="21"/>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6B828CF-D31D-4D32-9418-996169052AD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5680" cy="3085560"/>
          </a:xfrm>
          <a:prstGeom prst="rect">
            <a:avLst/>
          </a:prstGeom>
          <a:ln w="0">
            <a:noFill/>
          </a:ln>
        </p:spPr>
      </p:sp>
      <p:sp>
        <p:nvSpPr>
          <p:cNvPr id="20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02" name="PlaceHolder 3"/>
          <p:cNvSpPr>
            <a:spLocks noGrp="1"/>
          </p:cNvSpPr>
          <p:nvPr>
            <p:ph type="sldNum" idx="22"/>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3EA50D8-7654-4DC8-AC99-CC2F029E02C9}"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5680" cy="3085560"/>
          </a:xfrm>
          <a:prstGeom prst="rect">
            <a:avLst/>
          </a:prstGeom>
          <a:ln w="0">
            <a:noFill/>
          </a:ln>
        </p:spPr>
      </p:sp>
      <p:sp>
        <p:nvSpPr>
          <p:cNvPr id="20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05" name="PlaceHolder 3"/>
          <p:cNvSpPr>
            <a:spLocks noGrp="1"/>
          </p:cNvSpPr>
          <p:nvPr>
            <p:ph type="sldNum" idx="23"/>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07FB208-15E4-4DAA-966D-B7E54A0E90E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5680" cy="3085560"/>
          </a:xfrm>
          <a:prstGeom prst="rect">
            <a:avLst/>
          </a:prstGeom>
          <a:ln w="0">
            <a:noFill/>
          </a:ln>
        </p:spPr>
      </p:sp>
      <p:sp>
        <p:nvSpPr>
          <p:cNvPr id="20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08" name="PlaceHolder 3"/>
          <p:cNvSpPr>
            <a:spLocks noGrp="1"/>
          </p:cNvSpPr>
          <p:nvPr>
            <p:ph type="sldNum" idx="2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A50E27D-2407-4654-B27E-C13A54A2F3D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5680" cy="3085560"/>
          </a:xfrm>
          <a:prstGeom prst="rect">
            <a:avLst/>
          </a:prstGeom>
          <a:ln w="0">
            <a:noFill/>
          </a:ln>
        </p:spPr>
      </p:sp>
      <p:sp>
        <p:nvSpPr>
          <p:cNvPr id="21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11" name="PlaceHolder 3"/>
          <p:cNvSpPr>
            <a:spLocks noGrp="1"/>
          </p:cNvSpPr>
          <p:nvPr>
            <p:ph type="sldNum" idx="2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4C10671-E634-4A88-870E-304D736C4E4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5680" cy="3085560"/>
          </a:xfrm>
          <a:prstGeom prst="rect">
            <a:avLst/>
          </a:prstGeom>
          <a:ln w="0">
            <a:noFill/>
          </a:ln>
        </p:spPr>
      </p:sp>
      <p:sp>
        <p:nvSpPr>
          <p:cNvPr id="21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14" name="PlaceHolder 3"/>
          <p:cNvSpPr>
            <a:spLocks noGrp="1"/>
          </p:cNvSpPr>
          <p:nvPr>
            <p:ph type="sldNum" idx="2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03390DC-B59B-4CB1-8173-734530F049F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5680" cy="3085560"/>
          </a:xfrm>
          <a:prstGeom prst="rect">
            <a:avLst/>
          </a:prstGeom>
          <a:ln w="0">
            <a:noFill/>
          </a:ln>
        </p:spPr>
      </p:sp>
      <p:sp>
        <p:nvSpPr>
          <p:cNvPr id="21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17" name="PlaceHolder 3"/>
          <p:cNvSpPr>
            <a:spLocks noGrp="1"/>
          </p:cNvSpPr>
          <p:nvPr>
            <p:ph type="sldNum" idx="2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4A8C704-7E26-42A2-884C-BDD186B42A1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5680" cy="3085560"/>
          </a:xfrm>
          <a:prstGeom prst="rect">
            <a:avLst/>
          </a:prstGeom>
          <a:ln w="0">
            <a:noFill/>
          </a:ln>
        </p:spPr>
      </p:sp>
      <p:sp>
        <p:nvSpPr>
          <p:cNvPr id="21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20" name="PlaceHolder 3"/>
          <p:cNvSpPr>
            <a:spLocks noGrp="1"/>
          </p:cNvSpPr>
          <p:nvPr>
            <p:ph type="sldNum" idx="28"/>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5388AA3-4CF8-4937-8F21-69CC08112F2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5680" cy="3085560"/>
          </a:xfrm>
          <a:prstGeom prst="rect">
            <a:avLst/>
          </a:prstGeom>
          <a:ln w="0">
            <a:noFill/>
          </a:ln>
        </p:spPr>
      </p:sp>
      <p:sp>
        <p:nvSpPr>
          <p:cNvPr id="22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23" name="PlaceHolder 3"/>
          <p:cNvSpPr>
            <a:spLocks noGrp="1"/>
          </p:cNvSpPr>
          <p:nvPr>
            <p:ph type="sldNum" idx="29"/>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9A45320-5F84-4488-B47C-E5AB2AB77A3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5680" cy="3085560"/>
          </a:xfrm>
          <a:prstGeom prst="rect">
            <a:avLst/>
          </a:prstGeom>
          <a:ln w="0">
            <a:noFill/>
          </a:ln>
        </p:spPr>
      </p:sp>
      <p:sp>
        <p:nvSpPr>
          <p:cNvPr id="22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26" name="PlaceHolder 3"/>
          <p:cNvSpPr>
            <a:spLocks noGrp="1"/>
          </p:cNvSpPr>
          <p:nvPr>
            <p:ph type="sldNum" idx="30"/>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B4EFA17-85CF-46B7-A7A8-5691DB7D3D9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5680" cy="3085560"/>
          </a:xfrm>
          <a:prstGeom prst="rect">
            <a:avLst/>
          </a:prstGeom>
          <a:ln w="0">
            <a:noFill/>
          </a:ln>
        </p:spPr>
      </p:sp>
      <p:sp>
        <p:nvSpPr>
          <p:cNvPr id="22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29" name="PlaceHolder 3"/>
          <p:cNvSpPr>
            <a:spLocks noGrp="1"/>
          </p:cNvSpPr>
          <p:nvPr>
            <p:ph type="sldNum" idx="31"/>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E0FE0E9C-3991-44E1-B6A5-DEFB65759E0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5680" cy="3085560"/>
          </a:xfrm>
          <a:prstGeom prst="rect">
            <a:avLst/>
          </a:prstGeom>
          <a:ln w="0">
            <a:noFill/>
          </a:ln>
        </p:spPr>
      </p:sp>
      <p:sp>
        <p:nvSpPr>
          <p:cNvPr id="23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32" name="PlaceHolder 3"/>
          <p:cNvSpPr>
            <a:spLocks noGrp="1"/>
          </p:cNvSpPr>
          <p:nvPr>
            <p:ph type="sldNum" idx="32"/>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F099BDF6-E321-4073-A160-497A634FE62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5680" cy="3085560"/>
          </a:xfrm>
          <a:prstGeom prst="rect">
            <a:avLst/>
          </a:prstGeom>
          <a:ln w="0">
            <a:noFill/>
          </a:ln>
        </p:spPr>
      </p:sp>
      <p:sp>
        <p:nvSpPr>
          <p:cNvPr id="23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35" name="PlaceHolder 3"/>
          <p:cNvSpPr>
            <a:spLocks noGrp="1"/>
          </p:cNvSpPr>
          <p:nvPr>
            <p:ph type="sldNum" idx="33"/>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95C0F77-3E09-4BB8-91C4-F17FBEEDEE4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5680" cy="3085560"/>
          </a:xfrm>
          <a:prstGeom prst="rect">
            <a:avLst/>
          </a:prstGeom>
          <a:ln w="0">
            <a:noFill/>
          </a:ln>
        </p:spPr>
      </p:sp>
      <p:sp>
        <p:nvSpPr>
          <p:cNvPr id="23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38" name="PlaceHolder 3"/>
          <p:cNvSpPr>
            <a:spLocks noGrp="1"/>
          </p:cNvSpPr>
          <p:nvPr>
            <p:ph type="sldNum" idx="3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1EC5FE4B-227B-4D20-BBE9-B2DE204963F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5680" cy="3085560"/>
          </a:xfrm>
          <a:prstGeom prst="rect">
            <a:avLst/>
          </a:prstGeom>
          <a:ln w="0">
            <a:noFill/>
          </a:ln>
        </p:spPr>
      </p:sp>
      <p:sp>
        <p:nvSpPr>
          <p:cNvPr id="24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41" name="PlaceHolder 3"/>
          <p:cNvSpPr>
            <a:spLocks noGrp="1"/>
          </p:cNvSpPr>
          <p:nvPr>
            <p:ph type="sldNum" idx="3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F12831D-AA2A-4870-9630-606AF53D728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5680" cy="3085560"/>
          </a:xfrm>
          <a:prstGeom prst="rect">
            <a:avLst/>
          </a:prstGeom>
          <a:ln w="0">
            <a:noFill/>
          </a:ln>
        </p:spPr>
      </p:sp>
      <p:sp>
        <p:nvSpPr>
          <p:cNvPr id="24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44" name="PlaceHolder 3"/>
          <p:cNvSpPr>
            <a:spLocks noGrp="1"/>
          </p:cNvSpPr>
          <p:nvPr>
            <p:ph type="sldNum" idx="3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6BD0EDE-8578-44AD-9C75-C1A5C272865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5680" cy="3085560"/>
          </a:xfrm>
          <a:prstGeom prst="rect">
            <a:avLst/>
          </a:prstGeom>
          <a:ln w="0">
            <a:noFill/>
          </a:ln>
        </p:spPr>
      </p:sp>
      <p:sp>
        <p:nvSpPr>
          <p:cNvPr id="24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47" name="PlaceHolder 3"/>
          <p:cNvSpPr>
            <a:spLocks noGrp="1"/>
          </p:cNvSpPr>
          <p:nvPr>
            <p:ph type="sldNum" idx="3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D6BA804-7850-4CB1-99DD-F2BF11FC14E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5680" cy="3085560"/>
          </a:xfrm>
          <a:prstGeom prst="rect">
            <a:avLst/>
          </a:prstGeom>
          <a:ln w="0">
            <a:noFill/>
          </a:ln>
        </p:spPr>
      </p:sp>
      <p:sp>
        <p:nvSpPr>
          <p:cNvPr id="24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50" name="PlaceHolder 3"/>
          <p:cNvSpPr>
            <a:spLocks noGrp="1"/>
          </p:cNvSpPr>
          <p:nvPr>
            <p:ph type="sldNum" idx="38"/>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BAE0992-6B9A-4B1B-9BA3-FCA8B3FA04D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5680" cy="3085560"/>
          </a:xfrm>
          <a:prstGeom prst="rect">
            <a:avLst/>
          </a:prstGeom>
          <a:ln w="0">
            <a:noFill/>
          </a:ln>
        </p:spPr>
      </p:sp>
      <p:sp>
        <p:nvSpPr>
          <p:cNvPr id="25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53" name="PlaceHolder 3"/>
          <p:cNvSpPr>
            <a:spLocks noGrp="1"/>
          </p:cNvSpPr>
          <p:nvPr>
            <p:ph type="sldNum" idx="39"/>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D8E15AC-374A-4AFB-8A0E-7985BC7257E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520D8303-E0A5-4725-815E-BBE45C5E4401}"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48C8C76-C666-4DAE-95FB-B5134C99F07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946EBC1-D481-4EEB-AC73-DE10B3822343}"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7154B650-9E38-445C-9D11-184AD80F7869}"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FF25C307-597C-4E4B-B436-51AB573B22CD}"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816B675-E7C1-446A-8391-FEF219ACFAF1}"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8A7DF984-ACD8-4D03-AA1B-F4D30D621782}"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FD136D90-5E74-41FA-8FF1-BCD39B70F57D}"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80E9D7B-7AFD-4ECF-B8A3-BF54BD5551F1}"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D2CC7C4A-7383-40C2-B049-C8639C6A059B}"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D194FE11-DDDD-42EF-AB6E-498DF0DF1087}"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469D5838-0C23-4C9B-93FA-7D87B41B650B}"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F27BB7FB-B833-4449-B881-BA3520D0C009}"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CABD8D9A-C608-4460-B150-27469172F3A7}"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4B7AAE1B-E9E0-406B-B51F-72C27D7B2DD0}"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1A537E8D-8890-451D-9B86-2A39F41585C2}"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1E5E3F44-F0B3-471C-8359-AD2DC04B3D03}"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D07766AF-32E5-4A9D-8CDF-1AECD2AE4108}"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38420EBB-C965-4A84-BD7A-CE68F321C5BD}"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3C313F0-B71B-456D-B445-A7D6C3B87DC6}"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233AD07-A33D-4676-805A-CF69FF6046DF}"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CE99E32B-C703-4385-B9D3-A1363C076635}"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81A92DE6-ADA2-4D15-A717-69BF0F575388}"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0"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2"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3"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4"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5"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F0F8777E-B02D-42F2-809E-4DA43B6EEAF3}" type="slidenum">
              <a:t>&lt;#&gt;</a:t>
            </a:fld>
          </a:p>
        </p:txBody>
      </p:sp>
      <p:sp>
        <p:nvSpPr>
          <p:cNvPr id="11" name="PlaceHolder 10"/>
          <p:cNvSpPr>
            <a:spLocks noGrp="1"/>
          </p:cNvSpPr>
          <p:nvPr>
            <p:ph type="dt" idx="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6"/>
          <p:cNvSpPr/>
          <p:nvPr/>
        </p:nvSpPr>
        <p:spPr>
          <a:xfrm>
            <a:off x="0" y="0"/>
            <a:ext cx="12191400" cy="486576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p:style>
      </p:sp>
      <p:sp>
        <p:nvSpPr>
          <p:cNvPr id="1" name="Rectangle 7"/>
          <p:cNvSpPr/>
          <p:nvPr/>
        </p:nvSpPr>
        <p:spPr>
          <a:xfrm>
            <a:off x="0" y="0"/>
            <a:ext cx="12191400" cy="486576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p:style>
      </p:sp>
      <p:sp>
        <p:nvSpPr>
          <p:cNvPr id="2" name="PlaceHolder 1"/>
          <p:cNvSpPr>
            <a:spLocks noGrp="1"/>
          </p:cNvSpPr>
          <p:nvPr>
            <p:ph type="title"/>
          </p:nvPr>
        </p:nvSpPr>
        <p:spPr>
          <a:xfrm>
            <a:off x="604440" y="0"/>
            <a:ext cx="10748520" cy="120816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3" name="PlaceHolder 2"/>
          <p:cNvSpPr>
            <a:spLocks noGrp="1"/>
          </p:cNvSpPr>
          <p:nvPr>
            <p:ph type="ftr" idx="1"/>
          </p:nvPr>
        </p:nvSpPr>
        <p:spPr>
          <a:xfrm>
            <a:off x="4648320" y="6356520"/>
            <a:ext cx="2894760" cy="364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4" name="PlaceHolder 3"/>
          <p:cNvSpPr>
            <a:spLocks noGrp="1"/>
          </p:cNvSpPr>
          <p:nvPr>
            <p:ph type="sldNum" idx="2"/>
          </p:nvPr>
        </p:nvSpPr>
        <p:spPr>
          <a:xfrm>
            <a:off x="8077320" y="6356520"/>
            <a:ext cx="3276000" cy="36432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Segoe UI"/>
              </a:defRPr>
            </a:lvl1pPr>
          </a:lstStyle>
          <a:p>
            <a:pPr algn="r">
              <a:lnSpc>
                <a:spcPct val="100000"/>
              </a:lnSpc>
              <a:buNone/>
            </a:pPr>
            <a:fld id="{796E3818-1A8F-42F2-8395-C84A9A2ED486}" type="slidenum">
              <a:rPr b="0" lang="en-US" sz="1200" spc="-1" strike="noStrike">
                <a:solidFill>
                  <a:srgbClr val="8b8b8b"/>
                </a:solidFill>
                <a:latin typeface="Segoe UI"/>
              </a:rPr>
              <a:t>&lt;number&gt;</a:t>
            </a:fld>
            <a:endParaRPr b="0" lang="en-US" sz="1200" spc="-1" strike="noStrike">
              <a:latin typeface="Times New Roman"/>
            </a:endParaRPr>
          </a:p>
        </p:txBody>
      </p:sp>
      <p:sp>
        <p:nvSpPr>
          <p:cNvPr id="5" name="PlaceHolder 4"/>
          <p:cNvSpPr>
            <a:spLocks noGrp="1"/>
          </p:cNvSpPr>
          <p:nvPr>
            <p:ph type="dt" idx="3"/>
          </p:nvPr>
        </p:nvSpPr>
        <p:spPr>
          <a:xfrm>
            <a:off x="838080" y="6356520"/>
            <a:ext cx="3276000" cy="364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a:t>
            </a:r>
            <a:r>
              <a:rPr b="0" lang="en-US" sz="3200" spc="-1" strike="noStrike">
                <a:latin typeface="Arial"/>
              </a:rPr>
              <a:t>outline text </a:t>
            </a:r>
            <a:r>
              <a:rPr b="0" lang="en-US" sz="3200" spc="-1" strike="noStrike">
                <a:latin typeface="Arial"/>
              </a:rPr>
              <a:t>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a:t>
            </a:r>
            <a:r>
              <a:rPr b="0" lang="en-US" sz="2800" spc="-1" strike="noStrike">
                <a:latin typeface="Arial"/>
              </a:rPr>
              <a:t>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a:t>
            </a:r>
            <a:r>
              <a:rPr b="0" lang="en-US" sz="2400" spc="-1" strike="noStrike">
                <a:latin typeface="Arial"/>
              </a:rPr>
              <a:t>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a:t>
            </a:r>
            <a:r>
              <a:rPr b="0" lang="en-US" sz="2000" spc="-1" strike="noStrike">
                <a:latin typeface="Arial"/>
              </a:rPr>
              <a:t>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a:t>
            </a:r>
            <a:r>
              <a:rPr b="0" lang="en-US" sz="2000" spc="-1" strike="noStrike">
                <a:latin typeface="Arial"/>
              </a:rPr>
              <a:t>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a:t>
            </a:r>
            <a:r>
              <a:rPr b="0" lang="en-US" sz="2000" spc="-1" strike="noStrike">
                <a:latin typeface="Arial"/>
              </a:rPr>
              <a:t>Outline </a:t>
            </a:r>
            <a:r>
              <a:rPr b="0" lang="en-US" sz="2000" spc="-1" strike="noStrike">
                <a:latin typeface="Arial"/>
              </a:rPr>
              <a:t>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a:t>
            </a:r>
            <a:r>
              <a:rPr b="0" lang="en-US" sz="2000" spc="-1" strike="noStrike">
                <a:latin typeface="Arial"/>
              </a:rPr>
              <a:t>enth </a:t>
            </a:r>
            <a:r>
              <a:rPr b="0" lang="en-US" sz="2000" spc="-1" strike="noStrike">
                <a:latin typeface="Arial"/>
              </a:rPr>
              <a:t>Outli</a:t>
            </a:r>
            <a:r>
              <a:rPr b="0" lang="en-US" sz="2000" spc="-1" strike="noStrike">
                <a:latin typeface="Arial"/>
              </a:rPr>
              <a:t>ne </a:t>
            </a:r>
            <a:r>
              <a:rPr b="0" lang="en-US" sz="2000" spc="-1" strike="noStrike">
                <a:latin typeface="Arial"/>
              </a:rPr>
              <a:t>Lev</a:t>
            </a:r>
            <a:r>
              <a:rPr b="0" lang="en-US" sz="2000" spc="-1" strike="noStrike">
                <a:latin typeface="Arial"/>
              </a:rPr>
              <a:t>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Rectangle 6"/>
          <p:cNvSpPr/>
          <p:nvPr/>
        </p:nvSpPr>
        <p:spPr>
          <a:xfrm>
            <a:off x="0" y="0"/>
            <a:ext cx="12191400" cy="1332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p:style>
      </p:sp>
      <p:sp>
        <p:nvSpPr>
          <p:cNvPr id="44" name="Rectangle 7"/>
          <p:cNvSpPr/>
          <p:nvPr/>
        </p:nvSpPr>
        <p:spPr>
          <a:xfrm>
            <a:off x="0" y="0"/>
            <a:ext cx="12191400" cy="1332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p:style>
      </p:sp>
      <p:sp>
        <p:nvSpPr>
          <p:cNvPr id="45" name="PlaceHolder 1"/>
          <p:cNvSpPr>
            <a:spLocks noGrp="1"/>
          </p:cNvSpPr>
          <p:nvPr>
            <p:ph type="ftr" idx="4"/>
          </p:nvPr>
        </p:nvSpPr>
        <p:spPr>
          <a:xfrm>
            <a:off x="4648320" y="6356520"/>
            <a:ext cx="2894760" cy="364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46" name="PlaceHolder 2"/>
          <p:cNvSpPr>
            <a:spLocks noGrp="1"/>
          </p:cNvSpPr>
          <p:nvPr>
            <p:ph type="sldNum" idx="5"/>
          </p:nvPr>
        </p:nvSpPr>
        <p:spPr>
          <a:xfrm>
            <a:off x="8077320" y="6356520"/>
            <a:ext cx="3276000" cy="36432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8b8b8b"/>
                </a:solidFill>
                <a:latin typeface="Segoe UI"/>
              </a:defRPr>
            </a:lvl1pPr>
          </a:lstStyle>
          <a:p>
            <a:pPr algn="r">
              <a:lnSpc>
                <a:spcPct val="100000"/>
              </a:lnSpc>
              <a:buNone/>
            </a:pPr>
            <a:fld id="{01272985-632B-4377-8849-824BFDC5DF8C}" type="slidenum">
              <a:rPr b="0" lang="en-US" sz="1200" spc="-1" strike="noStrike">
                <a:solidFill>
                  <a:srgbClr val="8b8b8b"/>
                </a:solidFill>
                <a:latin typeface="Segoe UI"/>
              </a:rPr>
              <a:t>&lt;number&gt;</a:t>
            </a:fld>
            <a:endParaRPr b="0" lang="en-US" sz="1200" spc="-1" strike="noStrike">
              <a:latin typeface="Times New Roman"/>
            </a:endParaRPr>
          </a:p>
        </p:txBody>
      </p:sp>
      <p:sp>
        <p:nvSpPr>
          <p:cNvPr id="47" name="PlaceHolder 3"/>
          <p:cNvSpPr>
            <a:spLocks noGrp="1"/>
          </p:cNvSpPr>
          <p:nvPr>
            <p:ph type="dt" idx="6"/>
          </p:nvPr>
        </p:nvSpPr>
        <p:spPr>
          <a:xfrm>
            <a:off x="838080" y="6356520"/>
            <a:ext cx="3276000" cy="364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4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a:t>
            </a:r>
            <a:r>
              <a:rPr b="0" lang="en-US" sz="4400" spc="-1" strike="noStrike">
                <a:latin typeface="Arial"/>
              </a:rPr>
              <a:t>title text format</a:t>
            </a:r>
            <a:endParaRPr b="0" lang="en-US" sz="4400" spc="-1" strike="noStrike">
              <a:latin typeface="Arial"/>
            </a:endParaRPr>
          </a:p>
        </p:txBody>
      </p:sp>
      <p:sp>
        <p:nvSpPr>
          <p:cNvPr id="4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hyperlink" Target="mailto:maintainer=compiler@aast.edu" TargetMode="External"/><Relationship Id="rId2" Type="http://schemas.openxmlformats.org/officeDocument/2006/relationships/slideLayout" Target="../slideLayouts/slideLayout13.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2061000"/>
            <a:ext cx="10514880" cy="2386800"/>
          </a:xfrm>
          <a:prstGeom prst="rect">
            <a:avLst/>
          </a:prstGeom>
          <a:noFill/>
          <a:ln w="0">
            <a:noFill/>
          </a:ln>
        </p:spPr>
        <p:txBody>
          <a:bodyPr lIns="0" rIns="0" tIns="0" bIns="0" anchor="b">
            <a:noAutofit/>
          </a:bodyPr>
          <a:p>
            <a:pPr>
              <a:lnSpc>
                <a:spcPct val="100000"/>
              </a:lnSpc>
              <a:buNone/>
            </a:pPr>
            <a:r>
              <a:rPr b="0" lang="en-US" sz="5400" spc="-1" strike="noStrike">
                <a:solidFill>
                  <a:srgbClr val="ffffff"/>
                </a:solidFill>
                <a:latin typeface="Segoe UI Light"/>
              </a:rPr>
              <a:t>Docker</a:t>
            </a:r>
            <a:endParaRPr b="0" lang="en-US" sz="5400" spc="-1" strike="noStrike">
              <a:latin typeface="Arial"/>
            </a:endParaRPr>
          </a:p>
        </p:txBody>
      </p:sp>
      <p:sp>
        <p:nvSpPr>
          <p:cNvPr id="3" name="PlaceHolder 2"/>
          <p:cNvSpPr>
            <a:spLocks noGrp="1"/>
          </p:cNvSpPr>
          <p:nvPr>
            <p:ph type="sldNum" idx="2"/>
          </p:nvPr>
        </p:nvSpPr>
        <p:spPr/>
        <p:txBody>
          <a:bodyPr/>
          <a:p>
            <a:fld id="{6D7F239E-9575-4AC8-ACC2-17AA6430B4C1}"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Contents</a:t>
            </a:r>
            <a:endParaRPr b="0" lang="en-US" sz="3600" spc="-1" strike="noStrike">
              <a:latin typeface="Arial"/>
            </a:endParaRPr>
          </a:p>
        </p:txBody>
      </p:sp>
      <p:sp>
        <p:nvSpPr>
          <p:cNvPr id="94" name="PlaceHolder 2"/>
          <p:cNvSpPr>
            <a:spLocks noGrp="1"/>
          </p:cNvSpPr>
          <p:nvPr>
            <p:ph/>
          </p:nvPr>
        </p:nvSpPr>
        <p:spPr>
          <a:xfrm>
            <a:off x="604440" y="1560960"/>
            <a:ext cx="10514880" cy="4060080"/>
          </a:xfrm>
          <a:prstGeom prst="rect">
            <a:avLst/>
          </a:prstGeom>
          <a:noFill/>
          <a:ln w="0">
            <a:noFill/>
          </a:ln>
        </p:spPr>
        <p:txBody>
          <a:bodyPr lIns="90000" rIns="90000" tIns="45000" bIns="45000" anchor="t">
            <a:noAutofit/>
          </a:bodyPr>
          <a:p>
            <a:pPr marL="343080" indent="-343080">
              <a:lnSpc>
                <a:spcPct val="150000"/>
              </a:lnSpc>
              <a:spcBef>
                <a:spcPts val="541"/>
              </a:spcBef>
              <a:spcAft>
                <a:spcPts val="1199"/>
              </a:spcAft>
              <a:buClr>
                <a:srgbClr val="808080"/>
              </a:buClr>
              <a:buFont typeface="Segoe UI Light"/>
              <a:buAutoNum type="arabicPeriod"/>
            </a:pPr>
            <a:r>
              <a:rPr b="0" lang="en-US" sz="1800" spc="-1" strike="noStrike">
                <a:solidFill>
                  <a:srgbClr val="808080"/>
                </a:solidFill>
                <a:latin typeface="Segoe UI"/>
              </a:rPr>
              <a:t>Fundamental of Docker</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a:pPr>
            <a:r>
              <a:rPr b="0" lang="en-US" sz="1800" spc="-1" strike="noStrike">
                <a:solidFill>
                  <a:srgbClr val="808080"/>
                </a:solidFill>
                <a:latin typeface="Segoe UI"/>
              </a:rPr>
              <a:t>Container at a scale.</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a:pPr>
            <a:r>
              <a:rPr b="0" lang="en-US" sz="1800" spc="-1" strike="noStrike">
                <a:solidFill>
                  <a:srgbClr val="808080"/>
                </a:solidFill>
                <a:latin typeface="Segoe UI"/>
              </a:rPr>
              <a:t>Benefits of docker</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a:pPr>
            <a:r>
              <a:rPr b="0" lang="en-US" sz="1800" spc="-1" strike="noStrike">
                <a:solidFill>
                  <a:srgbClr val="808080"/>
                </a:solidFill>
                <a:latin typeface="Segoe UI"/>
              </a:rPr>
              <a:t>Docker can not solve.</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a:pPr>
            <a:r>
              <a:rPr b="0" lang="en-US" sz="1800" spc="-1" strike="noStrike">
                <a:solidFill>
                  <a:srgbClr val="808080"/>
                </a:solidFill>
                <a:latin typeface="Segoe UI"/>
              </a:rPr>
              <a:t>Virtual machine and container</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a:pPr>
            <a:r>
              <a:rPr b="0" lang="en-US" sz="1800" spc="-1" strike="noStrike">
                <a:solidFill>
                  <a:srgbClr val="808080"/>
                </a:solidFill>
                <a:latin typeface="Segoe UI"/>
              </a:rPr>
              <a:t>Docker concepts</a:t>
            </a:r>
            <a:endParaRPr b="0" lang="en-US" sz="1800" spc="-1" strike="noStrike">
              <a:latin typeface="Arial"/>
            </a:endParaRPr>
          </a:p>
        </p:txBody>
      </p:sp>
      <p:sp>
        <p:nvSpPr>
          <p:cNvPr id="4" name="PlaceHolder 3"/>
          <p:cNvSpPr>
            <a:spLocks noGrp="1"/>
          </p:cNvSpPr>
          <p:nvPr>
            <p:ph type="sldNum" idx="5"/>
          </p:nvPr>
        </p:nvSpPr>
        <p:spPr/>
        <p:txBody>
          <a:bodyPr/>
          <a:p>
            <a:fld id="{94B78FA0-4951-4695-AA39-C43451D62E69}"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Contents</a:t>
            </a:r>
            <a:endParaRPr b="0" lang="en-US" sz="3600" spc="-1" strike="noStrike">
              <a:latin typeface="Arial"/>
            </a:endParaRPr>
          </a:p>
        </p:txBody>
      </p:sp>
      <p:sp>
        <p:nvSpPr>
          <p:cNvPr id="96" name="PlaceHolder 2"/>
          <p:cNvSpPr>
            <a:spLocks noGrp="1"/>
          </p:cNvSpPr>
          <p:nvPr>
            <p:ph/>
          </p:nvPr>
        </p:nvSpPr>
        <p:spPr>
          <a:xfrm>
            <a:off x="604440" y="1560960"/>
            <a:ext cx="10514880" cy="4060080"/>
          </a:xfrm>
          <a:prstGeom prst="rect">
            <a:avLst/>
          </a:prstGeom>
          <a:noFill/>
          <a:ln w="0">
            <a:noFill/>
          </a:ln>
        </p:spPr>
        <p:txBody>
          <a:bodyPr lIns="90000" rIns="90000" tIns="45000" bIns="45000" anchor="t">
            <a:noAutofit/>
          </a:bodyPr>
          <a:p>
            <a:pPr marL="343080" indent="-343080">
              <a:lnSpc>
                <a:spcPct val="150000"/>
              </a:lnSpc>
              <a:spcBef>
                <a:spcPts val="541"/>
              </a:spcBef>
              <a:spcAft>
                <a:spcPts val="1199"/>
              </a:spcAft>
              <a:buClr>
                <a:srgbClr val="808080"/>
              </a:buClr>
              <a:buFont typeface="Segoe UI Light"/>
              <a:buAutoNum type="arabicPeriod" startAt="7"/>
            </a:pPr>
            <a:r>
              <a:rPr b="0" lang="en-US" sz="1800" spc="-1" strike="noStrike">
                <a:solidFill>
                  <a:srgbClr val="808080"/>
                </a:solidFill>
                <a:latin typeface="Segoe UI"/>
              </a:rPr>
              <a:t>Install docker</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7"/>
            </a:pPr>
            <a:r>
              <a:rPr b="0" lang="en-US" sz="1800" spc="-1" strike="noStrike">
                <a:solidFill>
                  <a:srgbClr val="808080"/>
                </a:solidFill>
                <a:latin typeface="Segoe UI"/>
              </a:rPr>
              <a:t>Docker hub</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7"/>
            </a:pPr>
            <a:r>
              <a:rPr b="0" lang="en-US" sz="1800" spc="-1" strike="noStrike">
                <a:solidFill>
                  <a:srgbClr val="808080"/>
                </a:solidFill>
                <a:latin typeface="Segoe UI"/>
              </a:rPr>
              <a:t>Docker images</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7"/>
            </a:pPr>
            <a:r>
              <a:rPr b="0" lang="en-US" sz="1800" spc="-1" strike="noStrike">
                <a:solidFill>
                  <a:srgbClr val="808080"/>
                </a:solidFill>
                <a:latin typeface="Segoe UI"/>
              </a:rPr>
              <a:t>Docker networking</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7"/>
            </a:pPr>
            <a:r>
              <a:rPr b="0" lang="en-US" sz="1800" spc="-1" strike="noStrike">
                <a:solidFill>
                  <a:srgbClr val="808080"/>
                </a:solidFill>
                <a:latin typeface="Segoe UI"/>
              </a:rPr>
              <a:t>Container life cycle</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7"/>
            </a:pPr>
            <a:r>
              <a:rPr b="0" lang="en-US" sz="1800" spc="-1" strike="noStrike">
                <a:solidFill>
                  <a:srgbClr val="808080"/>
                </a:solidFill>
                <a:latin typeface="Segoe UI"/>
              </a:rPr>
              <a:t>Executing command</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7"/>
            </a:pPr>
            <a:r>
              <a:rPr b="0" lang="en-US" sz="1800" spc="-1" strike="noStrike">
                <a:solidFill>
                  <a:srgbClr val="808080"/>
                </a:solidFill>
                <a:latin typeface="Segoe UI"/>
              </a:rPr>
              <a:t>Container management</a:t>
            </a:r>
            <a:endParaRPr b="0" lang="en-US" sz="1800" spc="-1" strike="noStrike">
              <a:latin typeface="Arial"/>
            </a:endParaRPr>
          </a:p>
        </p:txBody>
      </p:sp>
      <p:sp>
        <p:nvSpPr>
          <p:cNvPr id="4" name="PlaceHolder 3"/>
          <p:cNvSpPr>
            <a:spLocks noGrp="1"/>
          </p:cNvSpPr>
          <p:nvPr>
            <p:ph type="sldNum" idx="5"/>
          </p:nvPr>
        </p:nvSpPr>
        <p:spPr/>
        <p:txBody>
          <a:bodyPr/>
          <a:p>
            <a:fld id="{B63E3B3B-4A67-41B5-AE7B-C4F05DC33A3B}"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Contents</a:t>
            </a:r>
            <a:endParaRPr b="0" lang="en-US" sz="3600" spc="-1" strike="noStrike">
              <a:latin typeface="Arial"/>
            </a:endParaRPr>
          </a:p>
        </p:txBody>
      </p:sp>
      <p:sp>
        <p:nvSpPr>
          <p:cNvPr id="98" name="PlaceHolder 2"/>
          <p:cNvSpPr>
            <a:spLocks noGrp="1"/>
          </p:cNvSpPr>
          <p:nvPr>
            <p:ph/>
          </p:nvPr>
        </p:nvSpPr>
        <p:spPr>
          <a:xfrm>
            <a:off x="604440" y="1560960"/>
            <a:ext cx="10514880" cy="4060080"/>
          </a:xfrm>
          <a:prstGeom prst="rect">
            <a:avLst/>
          </a:prstGeom>
          <a:noFill/>
          <a:ln w="0">
            <a:noFill/>
          </a:ln>
        </p:spPr>
        <p:txBody>
          <a:bodyPr lIns="90000" rIns="90000" tIns="45000" bIns="45000" anchor="t">
            <a:noAutofit/>
          </a:bodyPr>
          <a:p>
            <a:pPr marL="343080" indent="-343080">
              <a:lnSpc>
                <a:spcPct val="150000"/>
              </a:lnSpc>
              <a:spcBef>
                <a:spcPts val="541"/>
              </a:spcBef>
              <a:spcAft>
                <a:spcPts val="1199"/>
              </a:spcAft>
              <a:buClr>
                <a:srgbClr val="808080"/>
              </a:buClr>
              <a:buFont typeface="Segoe UI Light"/>
              <a:buAutoNum type="arabicPeriod" startAt="13"/>
            </a:pPr>
            <a:r>
              <a:rPr b="0" lang="en-US" sz="1800" spc="-1" strike="noStrike">
                <a:solidFill>
                  <a:srgbClr val="808080"/>
                </a:solidFill>
                <a:latin typeface="Segoe UI"/>
              </a:rPr>
              <a:t>Persistent storage</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13"/>
            </a:pPr>
            <a:r>
              <a:rPr b="0" lang="en-US" sz="1800" spc="-1" strike="noStrike">
                <a:solidFill>
                  <a:srgbClr val="808080"/>
                </a:solidFill>
                <a:latin typeface="Segoe UI"/>
              </a:rPr>
              <a:t>Logs and monitoring</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13"/>
            </a:pPr>
            <a:r>
              <a:rPr b="0" lang="en-US" sz="1800" spc="-1" strike="noStrike">
                <a:solidFill>
                  <a:srgbClr val="808080"/>
                </a:solidFill>
                <a:latin typeface="Segoe UI"/>
              </a:rPr>
              <a:t>Docker compose</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13"/>
            </a:pPr>
            <a:r>
              <a:rPr b="0" lang="en-US" sz="1800" spc="-1" strike="noStrike">
                <a:solidFill>
                  <a:srgbClr val="808080"/>
                </a:solidFill>
                <a:latin typeface="Segoe UI"/>
              </a:rPr>
              <a:t>Image management</a:t>
            </a:r>
            <a:endParaRPr b="0" lang="en-US" sz="1800" spc="-1" strike="noStrike">
              <a:latin typeface="Arial"/>
            </a:endParaRPr>
          </a:p>
          <a:p>
            <a:pPr marL="343080" indent="-343080">
              <a:lnSpc>
                <a:spcPct val="150000"/>
              </a:lnSpc>
              <a:spcBef>
                <a:spcPts val="541"/>
              </a:spcBef>
              <a:spcAft>
                <a:spcPts val="1199"/>
              </a:spcAft>
              <a:buClr>
                <a:srgbClr val="808080"/>
              </a:buClr>
              <a:buFont typeface="Segoe UI Light"/>
              <a:buAutoNum type="arabicPeriod" startAt="13"/>
            </a:pPr>
            <a:r>
              <a:rPr b="0" lang="en-US" sz="1800" spc="-1" strike="noStrike">
                <a:solidFill>
                  <a:srgbClr val="808080"/>
                </a:solidFill>
                <a:latin typeface="Segoe UI"/>
              </a:rPr>
              <a:t>Backup and Restore.</a:t>
            </a:r>
            <a:endParaRPr b="0" lang="en-US" sz="1800" spc="-1" strike="noStrike">
              <a:latin typeface="Arial"/>
            </a:endParaRPr>
          </a:p>
        </p:txBody>
      </p:sp>
      <p:sp>
        <p:nvSpPr>
          <p:cNvPr id="4" name="PlaceHolder 3"/>
          <p:cNvSpPr>
            <a:spLocks noGrp="1"/>
          </p:cNvSpPr>
          <p:nvPr>
            <p:ph type="sldNum" idx="5"/>
          </p:nvPr>
        </p:nvSpPr>
        <p:spPr/>
        <p:txBody>
          <a:bodyPr/>
          <a:p>
            <a:fld id="{9858C733-F6FC-4F3C-B1B5-75509E5B4729}"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O/S Virtualization</a:t>
            </a:r>
            <a:endParaRPr b="0" lang="en-US" sz="3600" spc="-1" strike="noStrike">
              <a:latin typeface="Arial"/>
            </a:endParaRPr>
          </a:p>
        </p:txBody>
      </p:sp>
      <p:pic>
        <p:nvPicPr>
          <p:cNvPr id="100" name="Picture 5" descr=""/>
          <p:cNvPicPr/>
          <p:nvPr/>
        </p:nvPicPr>
        <p:blipFill>
          <a:blip r:embed="rId1"/>
          <a:stretch/>
        </p:blipFill>
        <p:spPr>
          <a:xfrm>
            <a:off x="943560" y="1564560"/>
            <a:ext cx="9813240" cy="4320720"/>
          </a:xfrm>
          <a:prstGeom prst="rect">
            <a:avLst/>
          </a:prstGeom>
          <a:ln w="0">
            <a:noFill/>
          </a:ln>
        </p:spPr>
      </p:pic>
      <p:sp>
        <p:nvSpPr>
          <p:cNvPr id="101" name="TextBox 6"/>
          <p:cNvSpPr/>
          <p:nvPr/>
        </p:nvSpPr>
        <p:spPr>
          <a:xfrm>
            <a:off x="3927240" y="6057000"/>
            <a:ext cx="31406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0000"/>
                </a:solidFill>
                <a:latin typeface="Segoe UI"/>
                <a:ea typeface="DejaVu Sans"/>
              </a:rPr>
              <a:t>levelup.gitconnected.com</a:t>
            </a:r>
            <a:endParaRPr b="0" lang="en-US" sz="1800" spc="-1" strike="noStrike">
              <a:latin typeface="Arial"/>
            </a:endParaRPr>
          </a:p>
        </p:txBody>
      </p:sp>
      <p:sp>
        <p:nvSpPr>
          <p:cNvPr id="3" name="PlaceHolder 2"/>
          <p:cNvSpPr>
            <a:spLocks noGrp="1"/>
          </p:cNvSpPr>
          <p:nvPr>
            <p:ph type="sldNum" idx="5"/>
          </p:nvPr>
        </p:nvSpPr>
        <p:spPr/>
        <p:txBody>
          <a:bodyPr/>
          <a:p>
            <a:fld id="{438C2B0C-387A-4FF1-AC83-4D2CD9D7E748}"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Fundamental of docker</a:t>
            </a:r>
            <a:endParaRPr b="0" lang="en-US" sz="3600" spc="-1" strike="noStrike">
              <a:latin typeface="Arial"/>
            </a:endParaRPr>
          </a:p>
        </p:txBody>
      </p:sp>
      <p:sp>
        <p:nvSpPr>
          <p:cNvPr id="103" name="PlaceHolder 2"/>
          <p:cNvSpPr>
            <a:spLocks noGrp="1"/>
          </p:cNvSpPr>
          <p:nvPr>
            <p:ph/>
          </p:nvPr>
        </p:nvSpPr>
        <p:spPr>
          <a:xfrm>
            <a:off x="854640" y="2070720"/>
            <a:ext cx="10631160" cy="4350600"/>
          </a:xfrm>
          <a:prstGeom prst="rect">
            <a:avLst/>
          </a:prstGeom>
          <a:noFill/>
          <a:ln w="0">
            <a:noFill/>
          </a:ln>
        </p:spPr>
        <p:txBody>
          <a:bodyPr lIns="90000" rIns="90000" tIns="45000" bIns="45000" anchor="t">
            <a:normAutofit/>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What is docker?</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Set of services  and tools help running and managing containers.</a:t>
            </a:r>
            <a:endParaRPr b="0" lang="en-US" sz="22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What is container?</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Unit of s/w that packages up libraries, code and dependencies to run the application quickly, and reliable from one system to another. The container is a temporary, or ephemeral.</a:t>
            </a:r>
            <a:endParaRPr b="0" lang="en-US" sz="2200" spc="-1" strike="noStrike">
              <a:latin typeface="Arial"/>
            </a:endParaRPr>
          </a:p>
        </p:txBody>
      </p:sp>
      <p:sp>
        <p:nvSpPr>
          <p:cNvPr id="4" name="PlaceHolder 3"/>
          <p:cNvSpPr>
            <a:spLocks noGrp="1"/>
          </p:cNvSpPr>
          <p:nvPr>
            <p:ph type="sldNum" idx="5"/>
          </p:nvPr>
        </p:nvSpPr>
        <p:spPr/>
        <p:txBody>
          <a:bodyPr/>
          <a:p>
            <a:fld id="{A530C55C-FD88-49E6-8A31-5A68E0C3694C}"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Fundamental of docker</a:t>
            </a:r>
            <a:endParaRPr b="0" lang="en-US" sz="3600" spc="-1" strike="noStrike">
              <a:latin typeface="Arial"/>
            </a:endParaRPr>
          </a:p>
        </p:txBody>
      </p:sp>
      <p:sp>
        <p:nvSpPr>
          <p:cNvPr id="105" name="PlaceHolder 2"/>
          <p:cNvSpPr>
            <a:spLocks noGrp="1"/>
          </p:cNvSpPr>
          <p:nvPr>
            <p:ph/>
          </p:nvPr>
        </p:nvSpPr>
        <p:spPr>
          <a:xfrm>
            <a:off x="854640" y="2070720"/>
            <a:ext cx="10631160" cy="4350600"/>
          </a:xfrm>
          <a:prstGeom prst="rect">
            <a:avLst/>
          </a:prstGeom>
          <a:noFill/>
          <a:ln w="0">
            <a:noFill/>
          </a:ln>
        </p:spPr>
        <p:txBody>
          <a:bodyPr lIns="90000" rIns="90000" tIns="45000" bIns="45000" anchor="t">
            <a:normAutofit/>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What included in container?</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System libraries</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Programming language runtimes</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Programming language libraries.</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Configuration settings.</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Static data files.</a:t>
            </a:r>
            <a:endParaRPr b="0" lang="en-US" sz="2200" spc="-1" strike="noStrike">
              <a:latin typeface="Arial"/>
            </a:endParaRPr>
          </a:p>
        </p:txBody>
      </p:sp>
      <p:sp>
        <p:nvSpPr>
          <p:cNvPr id="4" name="PlaceHolder 3"/>
          <p:cNvSpPr>
            <a:spLocks noGrp="1"/>
          </p:cNvSpPr>
          <p:nvPr>
            <p:ph type="sldNum" idx="5"/>
          </p:nvPr>
        </p:nvSpPr>
        <p:spPr/>
        <p:txBody>
          <a:bodyPr/>
          <a:p>
            <a:fld id="{10C9B893-5F0F-46A0-B6EB-5894EE5BE9CB}"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Container at a scale</a:t>
            </a:r>
            <a:endParaRPr b="0" lang="en-US" sz="3600" spc="-1" strike="noStrike">
              <a:latin typeface="Arial"/>
            </a:endParaRPr>
          </a:p>
        </p:txBody>
      </p:sp>
      <p:sp>
        <p:nvSpPr>
          <p:cNvPr id="107" name="PlaceHolder 2"/>
          <p:cNvSpPr>
            <a:spLocks noGrp="1"/>
          </p:cNvSpPr>
          <p:nvPr>
            <p:ph/>
          </p:nvPr>
        </p:nvSpPr>
        <p:spPr>
          <a:xfrm>
            <a:off x="780120" y="1748880"/>
            <a:ext cx="10631160" cy="4350600"/>
          </a:xfrm>
          <a:prstGeom prst="rect">
            <a:avLst/>
          </a:prstGeom>
          <a:noFill/>
          <a:ln w="0">
            <a:noFill/>
          </a:ln>
        </p:spPr>
        <p:txBody>
          <a:bodyPr lIns="90000" rIns="90000" tIns="45000" bIns="45000" anchor="t">
            <a:normAutofit fontScale="90000"/>
          </a:bodyPr>
          <a:p>
            <a:pPr marL="2858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The platform must ensure availability of container.</a:t>
            </a:r>
            <a:endParaRPr b="0" lang="en-US" sz="2200" spc="-1" strike="noStrike">
              <a:latin typeface="Arial"/>
            </a:endParaRPr>
          </a:p>
          <a:p>
            <a:pPr marL="2858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Must respond to application spikes by increasing/decreasing the running containers. </a:t>
            </a:r>
            <a:endParaRPr b="0" lang="en-US" sz="2200" spc="-1" strike="noStrike">
              <a:latin typeface="Arial"/>
            </a:endParaRPr>
          </a:p>
          <a:p>
            <a:pPr marL="2858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Use a load balancing techniques.</a:t>
            </a:r>
            <a:endParaRPr b="0" lang="en-US" sz="2200" spc="-1" strike="noStrike">
              <a:latin typeface="Arial"/>
            </a:endParaRPr>
          </a:p>
          <a:p>
            <a:pPr marL="2858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React according to failure of container, or container host.</a:t>
            </a:r>
            <a:endParaRPr b="0" lang="en-US" sz="2200" spc="-1" strike="noStrike">
              <a:latin typeface="Arial"/>
            </a:endParaRPr>
          </a:p>
          <a:p>
            <a:pPr marL="2858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Automated workflow to deliver new application in transparent and secure way.</a:t>
            </a:r>
            <a:endParaRPr b="0" lang="en-US" sz="2200" spc="-1" strike="noStrike">
              <a:latin typeface="Arial"/>
            </a:endParaRPr>
          </a:p>
          <a:p>
            <a:pPr marL="2858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Kubernetes is an orchestration layer.</a:t>
            </a:r>
            <a:endParaRPr b="0" lang="en-US" sz="2200" spc="-1" strike="noStrike">
              <a:latin typeface="Arial"/>
            </a:endParaRPr>
          </a:p>
          <a:p>
            <a:pPr>
              <a:lnSpc>
                <a:spcPct val="150000"/>
              </a:lnSpc>
              <a:spcBef>
                <a:spcPts val="660"/>
              </a:spcBef>
              <a:spcAft>
                <a:spcPts val="1199"/>
              </a:spcAft>
              <a:buNone/>
            </a:pPr>
            <a:endParaRPr b="0" lang="en-US" sz="2200" spc="-1" strike="noStrike">
              <a:latin typeface="Arial"/>
            </a:endParaRPr>
          </a:p>
        </p:txBody>
      </p:sp>
      <p:sp>
        <p:nvSpPr>
          <p:cNvPr id="4" name="PlaceHolder 3"/>
          <p:cNvSpPr>
            <a:spLocks noGrp="1"/>
          </p:cNvSpPr>
          <p:nvPr>
            <p:ph type="sldNum" idx="5"/>
          </p:nvPr>
        </p:nvSpPr>
        <p:spPr/>
        <p:txBody>
          <a:bodyPr/>
          <a:p>
            <a:fld id="{DB1FE262-7643-4A63-8C91-0A48AE8BF2C3}"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Benefits of docker</a:t>
            </a:r>
            <a:endParaRPr b="0" lang="en-US" sz="3600" spc="-1" strike="noStrike">
              <a:latin typeface="Arial"/>
            </a:endParaRPr>
          </a:p>
        </p:txBody>
      </p:sp>
      <p:graphicFrame>
        <p:nvGraphicFramePr>
          <p:cNvPr id="109" name="Table 3"/>
          <p:cNvGraphicFramePr/>
          <p:nvPr/>
        </p:nvGraphicFramePr>
        <p:xfrm>
          <a:off x="209160" y="1811160"/>
          <a:ext cx="11539440" cy="4914720"/>
        </p:xfrm>
        <a:graphic>
          <a:graphicData uri="http://schemas.openxmlformats.org/drawingml/2006/table">
            <a:tbl>
              <a:tblPr/>
              <a:tblGrid>
                <a:gridCol w="4281120"/>
                <a:gridCol w="7258680"/>
              </a:tblGrid>
              <a:tr h="370800">
                <a:tc>
                  <a:txBody>
                    <a:bodyPr anchor="t">
                      <a:noAutofit/>
                    </a:bodyPr>
                    <a:p>
                      <a:pPr>
                        <a:lnSpc>
                          <a:spcPct val="100000"/>
                        </a:lnSpc>
                        <a:buNone/>
                      </a:pPr>
                      <a:r>
                        <a:rPr b="1" lang="en-US" sz="1800" spc="-1" strike="noStrike">
                          <a:solidFill>
                            <a:srgbClr val="ffffff"/>
                          </a:solidFill>
                          <a:latin typeface="Segoe UI"/>
                        </a:rPr>
                        <a:t>Main benefits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c>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r>
              <a:tr h="887760">
                <a:tc>
                  <a:txBody>
                    <a:bodyPr anchor="t">
                      <a:noAutofit/>
                    </a:bodyPr>
                    <a:p>
                      <a:pPr>
                        <a:lnSpc>
                          <a:spcPct val="100000"/>
                        </a:lnSpc>
                        <a:buNone/>
                      </a:pPr>
                      <a:r>
                        <a:rPr b="0" lang="en-US" sz="1800" spc="-1" strike="noStrike">
                          <a:solidFill>
                            <a:srgbClr val="000000"/>
                          </a:solidFill>
                          <a:latin typeface="Segoe UI"/>
                        </a:rPr>
                        <a:t>More efficient use of system resources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c>
                  <a:txBody>
                    <a:bodyPr anchor="t">
                      <a:noAutofit/>
                    </a:bodyPr>
                    <a:p>
                      <a:pPr marL="285840" indent="-285840">
                        <a:lnSpc>
                          <a:spcPct val="100000"/>
                        </a:lnSpc>
                        <a:buClr>
                          <a:srgbClr val="000000"/>
                        </a:buClr>
                        <a:buFont typeface="Arial"/>
                        <a:buChar char="•"/>
                      </a:pPr>
                      <a:r>
                        <a:rPr b="0" lang="en-US" sz="1800" spc="-1" strike="noStrike">
                          <a:solidFill>
                            <a:srgbClr val="000000"/>
                          </a:solidFill>
                          <a:latin typeface="Segoe UI"/>
                        </a:rPr>
                        <a:t>Less memory than VM</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Segoe UI"/>
                        </a:rPr>
                        <a:t>Saves costs of s/w licenses.</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Segoe UI"/>
                        </a:rPr>
                        <a:t>Process isolation.</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r>
              <a:tr h="1153080">
                <a:tc>
                  <a:txBody>
                    <a:bodyPr anchor="t">
                      <a:noAutofit/>
                    </a:bodyPr>
                    <a:p>
                      <a:pPr>
                        <a:lnSpc>
                          <a:spcPct val="100000"/>
                        </a:lnSpc>
                        <a:buNone/>
                      </a:pPr>
                      <a:r>
                        <a:rPr b="0" lang="en-US" sz="1800" spc="-1" strike="noStrike">
                          <a:solidFill>
                            <a:srgbClr val="000000"/>
                          </a:solidFill>
                          <a:latin typeface="Segoe UI"/>
                        </a:rPr>
                        <a:t>Faster software delivery cycles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c>
                  <a:txBody>
                    <a:bodyPr anchor="t">
                      <a:noAutofit/>
                    </a:bodyPr>
                    <a:p>
                      <a:pPr marL="285840" indent="-285840">
                        <a:lnSpc>
                          <a:spcPct val="100000"/>
                        </a:lnSpc>
                        <a:buClr>
                          <a:srgbClr val="000000"/>
                        </a:buClr>
                        <a:buFont typeface="Arial"/>
                        <a:buChar char="•"/>
                      </a:pPr>
                      <a:r>
                        <a:rPr b="0" lang="en-US" sz="1800" spc="-1" strike="noStrike">
                          <a:solidFill>
                            <a:srgbClr val="000000"/>
                          </a:solidFill>
                          <a:latin typeface="Segoe UI"/>
                        </a:rPr>
                        <a:t>Easy scaling to meet demand</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Segoe UI"/>
                        </a:rPr>
                        <a:t>Easy to put new versions of s/w</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Segoe UI"/>
                        </a:rPr>
                        <a:t>Quickly roll-back to previous version</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Segoe UI"/>
                        </a:rPr>
                        <a:t>Easy to implement blue/green deployments.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r>
              <a:tr h="887760">
                <a:tc>
                  <a:txBody>
                    <a:bodyPr anchor="t">
                      <a:noAutofit/>
                    </a:bodyPr>
                    <a:p>
                      <a:pPr>
                        <a:lnSpc>
                          <a:spcPct val="100000"/>
                        </a:lnSpc>
                        <a:buNone/>
                      </a:pPr>
                      <a:r>
                        <a:rPr b="0" lang="en-US" sz="1800" spc="-1" strike="noStrike">
                          <a:solidFill>
                            <a:srgbClr val="000000"/>
                          </a:solidFill>
                          <a:latin typeface="Segoe UI"/>
                        </a:rPr>
                        <a:t>Application portability</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c>
                  <a:txBody>
                    <a:bodyPr anchor="t">
                      <a:noAutofit/>
                    </a:bodyPr>
                    <a:p>
                      <a:pPr marL="285840" indent="-285840">
                        <a:lnSpc>
                          <a:spcPct val="100000"/>
                        </a:lnSpc>
                        <a:buClr>
                          <a:srgbClr val="000000"/>
                        </a:buClr>
                        <a:buFont typeface="Arial"/>
                        <a:buChar char="•"/>
                      </a:pPr>
                      <a:r>
                        <a:rPr b="0" lang="en-US" sz="1800" spc="-1" strike="noStrike">
                          <a:solidFill>
                            <a:srgbClr val="000000"/>
                          </a:solidFill>
                          <a:latin typeface="Segoe UI"/>
                        </a:rPr>
                        <a:t>Because of encapsulation, Allow applications to be shuttled easily between environments.</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Segoe UI"/>
                        </a:rPr>
                        <a:t>Any host running docker runtime can run the container</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r>
              <a:tr h="622440">
                <a:tc>
                  <a:txBody>
                    <a:bodyPr anchor="t">
                      <a:noAutofit/>
                    </a:bodyPr>
                    <a:p>
                      <a:pPr>
                        <a:lnSpc>
                          <a:spcPct val="100000"/>
                        </a:lnSpc>
                        <a:buNone/>
                      </a:pPr>
                      <a:r>
                        <a:rPr b="0" lang="en-US" sz="1800" spc="-1" strike="noStrike">
                          <a:solidFill>
                            <a:srgbClr val="000000"/>
                          </a:solidFill>
                          <a:latin typeface="Segoe UI"/>
                        </a:rPr>
                        <a:t>Shine for microservices architecture</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c>
                  <a:txBody>
                    <a:bodyPr anchor="t">
                      <a:noAutofit/>
                    </a:bodyPr>
                    <a:p>
                      <a:pPr marL="285840" indent="-285840">
                        <a:lnSpc>
                          <a:spcPct val="100000"/>
                        </a:lnSpc>
                        <a:buClr>
                          <a:srgbClr val="000000"/>
                        </a:buClr>
                        <a:buFont typeface="Arial"/>
                        <a:buChar char="•"/>
                      </a:pPr>
                      <a:r>
                        <a:rPr b="0" lang="en-US" sz="1800" spc="-1" strike="noStrike">
                          <a:solidFill>
                            <a:srgbClr val="000000"/>
                          </a:solidFill>
                          <a:latin typeface="Segoe UI"/>
                        </a:rPr>
                        <a:t>No single point of failure.</a:t>
                      </a:r>
                      <a:endParaRPr b="0" lang="en-US" sz="1800" spc="-1" strike="noStrike">
                        <a:latin typeface="Arial"/>
                      </a:endParaRPr>
                    </a:p>
                    <a:p>
                      <a:pPr marL="285840" indent="-285840">
                        <a:lnSpc>
                          <a:spcPct val="100000"/>
                        </a:lnSpc>
                        <a:buClr>
                          <a:srgbClr val="000000"/>
                        </a:buClr>
                        <a:buFont typeface="Arial"/>
                        <a:buChar char="•"/>
                      </a:pPr>
                      <a:r>
                        <a:rPr b="0" lang="en-US" sz="1800" spc="-1" strike="noStrike">
                          <a:solidFill>
                            <a:srgbClr val="000000"/>
                          </a:solidFill>
                          <a:latin typeface="Segoe UI"/>
                        </a:rPr>
                        <a:t>Perfect suited to the microservices approach .</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r>
              <a:tr h="622440">
                <a:tc>
                  <a:txBody>
                    <a:bodyPr anchor="t">
                      <a:noAutofit/>
                    </a:bodyPr>
                    <a:p>
                      <a:pPr>
                        <a:lnSpc>
                          <a:spcPct val="100000"/>
                        </a:lnSpc>
                        <a:buNone/>
                      </a:pPr>
                      <a:r>
                        <a:rPr b="0" lang="en-US" sz="1800" spc="-1" strike="noStrike">
                          <a:solidFill>
                            <a:srgbClr val="000000"/>
                          </a:solidFill>
                          <a:latin typeface="Segoe UI"/>
                        </a:rPr>
                        <a:t>Scalability</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c>
                  <a:txBody>
                    <a:bodyPr anchor="t">
                      <a:noAutofit/>
                    </a:bodyPr>
                    <a:p>
                      <a:pPr>
                        <a:lnSpc>
                          <a:spcPct val="100000"/>
                        </a:lnSpc>
                        <a:buNone/>
                      </a:pPr>
                      <a:r>
                        <a:rPr b="0" lang="en-US" sz="1800" spc="-1" strike="noStrike">
                          <a:solidFill>
                            <a:srgbClr val="000000"/>
                          </a:solidFill>
                          <a:latin typeface="Segoe UI"/>
                        </a:rPr>
                        <a:t>Can scale out based on load using orchestration layer like kubernetes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r>
              <a:tr h="370800">
                <a:tc>
                  <a:txBody>
                    <a:bodyPr anchor="t">
                      <a:noAutofit/>
                    </a:bodyPr>
                    <a:p>
                      <a:pPr>
                        <a:lnSpc>
                          <a:spcPct val="100000"/>
                        </a:lnSpc>
                        <a:buNone/>
                      </a:pPr>
                      <a:r>
                        <a:rPr b="0" lang="en-US" sz="1800" spc="-1" strike="noStrike">
                          <a:solidFill>
                            <a:srgbClr val="000000"/>
                          </a:solidFill>
                          <a:latin typeface="Segoe UI"/>
                        </a:rPr>
                        <a:t>Speed</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c>
                  <a:txBody>
                    <a:bodyPr anchor="t">
                      <a:noAutofit/>
                    </a:bodyPr>
                    <a:p>
                      <a:pPr marL="285840" indent="-285840">
                        <a:lnSpc>
                          <a:spcPct val="100000"/>
                        </a:lnSpc>
                        <a:buClr>
                          <a:srgbClr val="000000"/>
                        </a:buClr>
                        <a:buFont typeface="Arial"/>
                        <a:buChar char="•"/>
                      </a:pPr>
                      <a:r>
                        <a:rPr b="0" lang="en-US" sz="1800" spc="-1" strike="noStrike">
                          <a:solidFill>
                            <a:srgbClr val="000000"/>
                          </a:solidFill>
                          <a:latin typeface="Segoe UI"/>
                        </a:rPr>
                        <a:t>Startup, and stop more quickly</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r>
            </a:tbl>
          </a:graphicData>
        </a:graphic>
      </p:graphicFrame>
      <p:sp>
        <p:nvSpPr>
          <p:cNvPr id="3" name="PlaceHolder 2"/>
          <p:cNvSpPr>
            <a:spLocks noGrp="1"/>
          </p:cNvSpPr>
          <p:nvPr>
            <p:ph type="sldNum" idx="5"/>
          </p:nvPr>
        </p:nvSpPr>
        <p:spPr/>
        <p:txBody>
          <a:bodyPr/>
          <a:p>
            <a:fld id="{95FC4737-3676-4224-AA51-E97814E87208}"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don’t solve</a:t>
            </a:r>
            <a:endParaRPr b="0" lang="en-US" sz="3600" spc="-1" strike="noStrike">
              <a:latin typeface="Arial"/>
            </a:endParaRPr>
          </a:p>
        </p:txBody>
      </p:sp>
      <p:sp>
        <p:nvSpPr>
          <p:cNvPr id="111" name="PlaceHolder 2"/>
          <p:cNvSpPr>
            <a:spLocks noGrp="1"/>
          </p:cNvSpPr>
          <p:nvPr>
            <p:ph/>
          </p:nvPr>
        </p:nvSpPr>
        <p:spPr>
          <a:xfrm>
            <a:off x="854640" y="2070720"/>
            <a:ext cx="10631160" cy="4350600"/>
          </a:xfrm>
          <a:prstGeom prst="rect">
            <a:avLst/>
          </a:prstGeom>
          <a:noFill/>
          <a:ln w="0">
            <a:noFill/>
          </a:ln>
        </p:spPr>
        <p:txBody>
          <a:bodyPr lIns="90000" rIns="90000" tIns="45000" bIns="45000" anchor="t">
            <a:normAutofit/>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Docker don’t solve?</a:t>
            </a:r>
            <a:endParaRPr b="0" lang="en-US" sz="24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Fix your security issues.</a:t>
            </a:r>
            <a:endParaRPr b="0" lang="en-US" sz="20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Does not turn your application into microservices.</a:t>
            </a:r>
            <a:endParaRPr b="0" lang="en-US" sz="20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Is not substitute of VMs.</a:t>
            </a:r>
            <a:endParaRPr b="0" lang="en-US" sz="2000" spc="-1" strike="noStrike">
              <a:latin typeface="Arial"/>
            </a:endParaRPr>
          </a:p>
          <a:p>
            <a:pPr marL="685800">
              <a:lnSpc>
                <a:spcPct val="150000"/>
              </a:lnSpc>
              <a:spcBef>
                <a:spcPts val="601"/>
              </a:spcBef>
              <a:spcAft>
                <a:spcPts val="1199"/>
              </a:spcAft>
              <a:buNone/>
              <a:tabLst>
                <a:tab algn="l" pos="0"/>
              </a:tabLst>
            </a:pPr>
            <a:endParaRPr b="0" lang="en-US" sz="2000" spc="-1" strike="noStrike">
              <a:latin typeface="Arial"/>
            </a:endParaRPr>
          </a:p>
          <a:p>
            <a:pPr marL="685800">
              <a:lnSpc>
                <a:spcPct val="90000"/>
              </a:lnSpc>
              <a:spcBef>
                <a:spcPts val="1417"/>
              </a:spcBef>
              <a:buNone/>
              <a:tabLst>
                <a:tab algn="l" pos="0"/>
              </a:tabLst>
            </a:pPr>
            <a:endParaRPr b="0" lang="en-US" sz="2000" spc="-1" strike="noStrike">
              <a:latin typeface="Arial"/>
            </a:endParaRPr>
          </a:p>
        </p:txBody>
      </p:sp>
      <p:sp>
        <p:nvSpPr>
          <p:cNvPr id="4" name="PlaceHolder 3"/>
          <p:cNvSpPr>
            <a:spLocks noGrp="1"/>
          </p:cNvSpPr>
          <p:nvPr>
            <p:ph type="sldNum" idx="5"/>
          </p:nvPr>
        </p:nvSpPr>
        <p:spPr/>
        <p:txBody>
          <a:bodyPr/>
          <a:p>
            <a:fld id="{A730C75F-7080-4263-BF0C-C3B9A6281690}"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Virtual machine and container</a:t>
            </a:r>
            <a:endParaRPr b="0" lang="en-US" sz="3600" spc="-1" strike="noStrike">
              <a:latin typeface="Arial"/>
            </a:endParaRPr>
          </a:p>
        </p:txBody>
      </p:sp>
      <p:graphicFrame>
        <p:nvGraphicFramePr>
          <p:cNvPr id="113" name="Table 3"/>
          <p:cNvGraphicFramePr/>
          <p:nvPr/>
        </p:nvGraphicFramePr>
        <p:xfrm>
          <a:off x="209160" y="2420640"/>
          <a:ext cx="11539440" cy="1972440"/>
        </p:xfrm>
        <a:graphic>
          <a:graphicData uri="http://schemas.openxmlformats.org/drawingml/2006/table">
            <a:tbl>
              <a:tblPr/>
              <a:tblGrid>
                <a:gridCol w="5260320"/>
                <a:gridCol w="6279480"/>
              </a:tblGrid>
              <a:tr h="357120">
                <a:tc>
                  <a:txBody>
                    <a:bodyPr anchor="t">
                      <a:noAutofit/>
                    </a:bodyPr>
                    <a:p>
                      <a:pPr>
                        <a:lnSpc>
                          <a:spcPct val="100000"/>
                        </a:lnSpc>
                        <a:buNone/>
                      </a:pPr>
                      <a:r>
                        <a:rPr b="1" lang="en-US" sz="1800" spc="-1" strike="noStrike">
                          <a:solidFill>
                            <a:srgbClr val="ffffff"/>
                          </a:solidFill>
                          <a:latin typeface="Segoe UI"/>
                        </a:rPr>
                        <a:t>Virtual machine</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c>
                  <a:txBody>
                    <a:bodyPr anchor="t">
                      <a:noAutofit/>
                    </a:bodyPr>
                    <a:p>
                      <a:pPr>
                        <a:lnSpc>
                          <a:spcPct val="100000"/>
                        </a:lnSpc>
                        <a:buNone/>
                      </a:pPr>
                      <a:r>
                        <a:rPr b="1" lang="en-US" sz="1800" spc="-1" strike="noStrike">
                          <a:solidFill>
                            <a:srgbClr val="ffffff"/>
                          </a:solidFill>
                          <a:latin typeface="Segoe UI"/>
                        </a:rPr>
                        <a:t>Container</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38160">
                      <a:solidFill>
                        <a:srgbClr val="ffffff"/>
                      </a:solidFill>
                    </a:lnB>
                    <a:solidFill>
                      <a:srgbClr val="5b9bd5"/>
                    </a:solidFill>
                  </a:tcPr>
                </a:tc>
              </a:tr>
              <a:tr h="622440">
                <a:tc>
                  <a:txBody>
                    <a:bodyPr anchor="t">
                      <a:noAutofit/>
                    </a:bodyPr>
                    <a:p>
                      <a:pPr>
                        <a:lnSpc>
                          <a:spcPct val="100000"/>
                        </a:lnSpc>
                        <a:buNone/>
                      </a:pPr>
                      <a:r>
                        <a:rPr b="0" lang="en-US" sz="1800" spc="-1" strike="noStrike">
                          <a:solidFill>
                            <a:srgbClr val="000000"/>
                          </a:solidFill>
                          <a:latin typeface="Segoe UI"/>
                        </a:rPr>
                        <a:t>Multiple OS run side by side</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c>
                  <a:txBody>
                    <a:bodyPr anchor="t">
                      <a:noAutofit/>
                    </a:bodyPr>
                    <a:p>
                      <a:pPr>
                        <a:lnSpc>
                          <a:spcPct val="100000"/>
                        </a:lnSpc>
                        <a:buNone/>
                        <a:tabLst>
                          <a:tab algn="l" pos="0"/>
                        </a:tabLst>
                      </a:pPr>
                      <a:r>
                        <a:rPr b="0" lang="en-US" sz="1800" spc="-1" strike="noStrike">
                          <a:solidFill>
                            <a:srgbClr val="000000"/>
                          </a:solidFill>
                          <a:latin typeface="Segoe UI"/>
                        </a:rPr>
                        <a:t>Run directly on the OS, sharing hardware and OS across all containers.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r>
              <a:tr h="622440">
                <a:tc>
                  <a:txBody>
                    <a:bodyPr anchor="t">
                      <a:noAutofit/>
                    </a:bodyPr>
                    <a:p>
                      <a:pPr>
                        <a:lnSpc>
                          <a:spcPct val="100000"/>
                        </a:lnSpc>
                        <a:buNone/>
                      </a:pPr>
                      <a:r>
                        <a:rPr b="0" lang="en-US" sz="1800" spc="-1" strike="noStrike">
                          <a:solidFill>
                            <a:srgbClr val="000000"/>
                          </a:solidFill>
                          <a:latin typeface="Segoe UI"/>
                        </a:rPr>
                        <a:t>Hypervisor to divide hardware into virtual hardware system</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c>
                  <a:txBody>
                    <a:bodyPr anchor="t">
                      <a:noAutofit/>
                    </a:bodyPr>
                    <a:p>
                      <a:pPr>
                        <a:lnSpc>
                          <a:spcPct val="100000"/>
                        </a:lnSpc>
                        <a:buNone/>
                        <a:tabLst>
                          <a:tab algn="l" pos="0"/>
                        </a:tabLst>
                      </a:pPr>
                      <a:r>
                        <a:rPr b="0" lang="en-US" sz="1800" spc="-1" strike="noStrike">
                          <a:solidFill>
                            <a:srgbClr val="000000"/>
                          </a:solidFill>
                          <a:latin typeface="Segoe UI"/>
                        </a:rPr>
                        <a:t>Share the same SO, isolate the containerized application processes from the rest of the system.</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e9eff7"/>
                    </a:solidFill>
                  </a:tcPr>
                </a:tc>
              </a:tr>
              <a:tr h="370800">
                <a:tc>
                  <a:txBody>
                    <a:bodyPr anchor="t">
                      <a:noAutofit/>
                    </a:bodyPr>
                    <a:p>
                      <a:pPr>
                        <a:lnSpc>
                          <a:spcPct val="100000"/>
                        </a:lnSpc>
                        <a:buNone/>
                      </a:pPr>
                      <a:r>
                        <a:rPr b="0" lang="en-US" sz="1800" spc="-1" strike="noStrike">
                          <a:solidFill>
                            <a:srgbClr val="000000"/>
                          </a:solidFill>
                          <a:latin typeface="Segoe UI"/>
                        </a:rPr>
                        <a:t>Require a complete OS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c>
                  <a:txBody>
                    <a:bodyPr anchor="t">
                      <a:noAutofit/>
                    </a:bodyPr>
                    <a:p>
                      <a:pPr>
                        <a:lnSpc>
                          <a:spcPct val="100000"/>
                        </a:lnSpc>
                        <a:buNone/>
                        <a:tabLst>
                          <a:tab algn="l" pos="0"/>
                        </a:tabLst>
                      </a:pPr>
                      <a:r>
                        <a:rPr b="0" lang="en-US" sz="1800" spc="-1" strike="noStrike">
                          <a:solidFill>
                            <a:srgbClr val="000000"/>
                          </a:solidFill>
                          <a:latin typeface="Segoe UI"/>
                        </a:rPr>
                        <a:t>Require less hardware resources.</a:t>
                      </a:r>
                      <a:endParaRPr b="0" lang="en-US" sz="1800" spc="-1" strike="noStrike">
                        <a:latin typeface="Arial"/>
                      </a:endParaRPr>
                    </a:p>
                  </a:txBody>
                  <a:tcPr anchor="t" marL="91440" marR="91440">
                    <a:lnL w="12240">
                      <a:solidFill>
                        <a:srgbClr val="ffffff"/>
                      </a:solidFill>
                    </a:lnL>
                    <a:lnR w="12240">
                      <a:solidFill>
                        <a:srgbClr val="ffffff"/>
                      </a:solidFill>
                    </a:lnR>
                    <a:lnT w="12240">
                      <a:solidFill>
                        <a:srgbClr val="ffffff"/>
                      </a:solidFill>
                    </a:lnT>
                    <a:lnB w="12240">
                      <a:solidFill>
                        <a:srgbClr val="ffffff"/>
                      </a:solidFill>
                    </a:lnB>
                    <a:solidFill>
                      <a:srgbClr val="d1deef"/>
                    </a:solidFill>
                  </a:tcPr>
                </a:tc>
              </a:tr>
            </a:tbl>
          </a:graphicData>
        </a:graphic>
      </p:graphicFrame>
      <p:sp>
        <p:nvSpPr>
          <p:cNvPr id="114" name="Content Placeholder 2"/>
          <p:cNvSpPr/>
          <p:nvPr/>
        </p:nvSpPr>
        <p:spPr>
          <a:xfrm>
            <a:off x="442800" y="1613520"/>
            <a:ext cx="10631160" cy="671760"/>
          </a:xfrm>
          <a:prstGeom prst="rect">
            <a:avLst/>
          </a:prstGeom>
          <a:noFill/>
          <a:ln w="0">
            <a:noFill/>
          </a:ln>
        </p:spPr>
        <p:style>
          <a:lnRef idx="0"/>
          <a:fillRef idx="0"/>
          <a:effectRef idx="0"/>
          <a:fontRef idx="minor"/>
        </p:style>
        <p:txBody>
          <a:bodyPr lIns="90000" rIns="90000" tIns="45000" bIns="45000" anchor="t">
            <a:normAutofit/>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ea typeface="DejaVu Sans"/>
              </a:rPr>
              <a:t>Virtual machine and container?</a:t>
            </a:r>
            <a:endParaRPr b="0" lang="en-US" sz="2400" spc="-1" strike="noStrike">
              <a:latin typeface="Arial"/>
            </a:endParaRPr>
          </a:p>
        </p:txBody>
      </p:sp>
      <p:sp>
        <p:nvSpPr>
          <p:cNvPr id="3" name="PlaceHolder 2"/>
          <p:cNvSpPr>
            <a:spLocks noGrp="1"/>
          </p:cNvSpPr>
          <p:nvPr>
            <p:ph type="sldNum" idx="5"/>
          </p:nvPr>
        </p:nvSpPr>
        <p:spPr/>
        <p:txBody>
          <a:bodyPr/>
          <a:p>
            <a:fld id="{6FB02041-6520-4593-9E4B-7EDA3E305939}"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concepts</a:t>
            </a:r>
            <a:endParaRPr b="0" lang="en-US" sz="3600" spc="-1" strike="noStrike">
              <a:latin typeface="Arial"/>
            </a:endParaRPr>
          </a:p>
        </p:txBody>
      </p:sp>
      <p:sp>
        <p:nvSpPr>
          <p:cNvPr id="116" name="PlaceHolder 2"/>
          <p:cNvSpPr>
            <a:spLocks noGrp="1"/>
          </p:cNvSpPr>
          <p:nvPr>
            <p:ph/>
          </p:nvPr>
        </p:nvSpPr>
        <p:spPr>
          <a:xfrm>
            <a:off x="854640" y="2070720"/>
            <a:ext cx="6083280" cy="4350600"/>
          </a:xfrm>
          <a:prstGeom prst="rect">
            <a:avLst/>
          </a:prstGeom>
          <a:noFill/>
          <a:ln w="0">
            <a:noFill/>
          </a:ln>
        </p:spPr>
        <p:txBody>
          <a:bodyPr lIns="90000" rIns="90000" tIns="45000" bIns="45000" anchor="t">
            <a:normAutofit fontScale="81000"/>
          </a:bodyPr>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Docker Engine</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Docker client</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Docker daemon</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Docker file</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Docker image</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Union file system</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Volumes</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Docker containers</a:t>
            </a:r>
            <a:endParaRPr b="0" lang="en-US" sz="2000" spc="-1" strike="noStrike">
              <a:latin typeface="Arial"/>
            </a:endParaRPr>
          </a:p>
          <a:p>
            <a:pPr>
              <a:lnSpc>
                <a:spcPct val="150000"/>
              </a:lnSpc>
              <a:spcBef>
                <a:spcPts val="601"/>
              </a:spcBef>
              <a:spcAft>
                <a:spcPts val="1199"/>
              </a:spcAft>
              <a:buNone/>
            </a:pPr>
            <a:endParaRPr b="0" lang="en-US" sz="2000" spc="-1" strike="noStrike">
              <a:latin typeface="Arial"/>
            </a:endParaRPr>
          </a:p>
        </p:txBody>
      </p:sp>
      <p:pic>
        <p:nvPicPr>
          <p:cNvPr id="117" name="Picture 2" descr=""/>
          <p:cNvPicPr/>
          <p:nvPr/>
        </p:nvPicPr>
        <p:blipFill>
          <a:blip r:embed="rId1"/>
          <a:stretch/>
        </p:blipFill>
        <p:spPr>
          <a:xfrm>
            <a:off x="8004600" y="2581920"/>
            <a:ext cx="3518640" cy="2638800"/>
          </a:xfrm>
          <a:prstGeom prst="rect">
            <a:avLst/>
          </a:prstGeom>
          <a:ln w="0">
            <a:noFill/>
          </a:ln>
        </p:spPr>
      </p:pic>
      <p:sp>
        <p:nvSpPr>
          <p:cNvPr id="118" name="TextBox 3"/>
          <p:cNvSpPr/>
          <p:nvPr/>
        </p:nvSpPr>
        <p:spPr>
          <a:xfrm>
            <a:off x="8970120" y="5441400"/>
            <a:ext cx="158796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0000"/>
                </a:solidFill>
                <a:latin typeface="Segoe UI"/>
                <a:ea typeface="DejaVu Sans"/>
              </a:rPr>
              <a:t>From docker</a:t>
            </a:r>
            <a:endParaRPr b="0" lang="en-US" sz="1800" spc="-1" strike="noStrike">
              <a:latin typeface="Arial"/>
            </a:endParaRPr>
          </a:p>
        </p:txBody>
      </p:sp>
      <p:pic>
        <p:nvPicPr>
          <p:cNvPr id="119" name="Picture 4" descr=""/>
          <p:cNvPicPr/>
          <p:nvPr/>
        </p:nvPicPr>
        <p:blipFill>
          <a:blip r:embed="rId2"/>
          <a:stretch/>
        </p:blipFill>
        <p:spPr>
          <a:xfrm>
            <a:off x="3062520" y="1577880"/>
            <a:ext cx="4749120" cy="4553280"/>
          </a:xfrm>
          <a:prstGeom prst="rect">
            <a:avLst/>
          </a:prstGeom>
          <a:ln w="0">
            <a:noFill/>
          </a:ln>
        </p:spPr>
      </p:pic>
      <p:sp>
        <p:nvSpPr>
          <p:cNvPr id="120" name="TextBox 7"/>
          <p:cNvSpPr/>
          <p:nvPr/>
        </p:nvSpPr>
        <p:spPr>
          <a:xfrm>
            <a:off x="4000320" y="6237360"/>
            <a:ext cx="2874240" cy="3639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0000"/>
                </a:solidFill>
                <a:latin typeface="Segoe UI"/>
                <a:ea typeface="DejaVu Sans"/>
              </a:rPr>
              <a:t>www.freecodecamp.org</a:t>
            </a:r>
            <a:endParaRPr b="0" lang="en-US" sz="1800" spc="-1" strike="noStrike">
              <a:latin typeface="Arial"/>
            </a:endParaRPr>
          </a:p>
        </p:txBody>
      </p:sp>
      <p:sp>
        <p:nvSpPr>
          <p:cNvPr id="4" name="PlaceHolder 3"/>
          <p:cNvSpPr>
            <a:spLocks noGrp="1"/>
          </p:cNvSpPr>
          <p:nvPr>
            <p:ph type="sldNum" idx="5"/>
          </p:nvPr>
        </p:nvSpPr>
        <p:spPr/>
        <p:txBody>
          <a:bodyPr/>
          <a:p>
            <a:fld id="{722EB2AA-4A45-407C-9E79-6504ED44C066}"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Install</a:t>
            </a:r>
            <a:endParaRPr b="0" lang="en-US" sz="3600" spc="-1" strike="noStrike">
              <a:latin typeface="Arial"/>
            </a:endParaRPr>
          </a:p>
        </p:txBody>
      </p:sp>
      <p:sp>
        <p:nvSpPr>
          <p:cNvPr id="122" name="PlaceHolder 2"/>
          <p:cNvSpPr>
            <a:spLocks noGrp="1"/>
          </p:cNvSpPr>
          <p:nvPr>
            <p:ph/>
          </p:nvPr>
        </p:nvSpPr>
        <p:spPr>
          <a:xfrm>
            <a:off x="780120" y="1731960"/>
            <a:ext cx="10631160" cy="4350600"/>
          </a:xfrm>
          <a:prstGeom prst="rect">
            <a:avLst/>
          </a:prstGeom>
          <a:noFill/>
          <a:ln w="0">
            <a:noFill/>
          </a:ln>
        </p:spPr>
        <p:txBody>
          <a:bodyPr lIns="90000" rIns="90000" tIns="45000" bIns="45000" anchor="t">
            <a:normAutofit fontScale="99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sudo apt install apt-transport-https ca-certificates curl software-properties-common</a:t>
            </a:r>
            <a:endParaRPr b="0" lang="en-US" sz="24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curl -fsSL https://download.docker.com/linux/ubuntu/gpg | sudo apt-key add --</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add-apt-repository "deb [arch=amd64] https://download.docker.com/linux/ubuntu focal stable”</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apt update</a:t>
            </a:r>
            <a:endParaRPr b="0" lang="en-US" sz="2000" spc="-1" strike="noStrike">
              <a:latin typeface="Arial"/>
            </a:endParaRPr>
          </a:p>
          <a:p>
            <a:pPr marL="285840" indent="-285840">
              <a:lnSpc>
                <a:spcPct val="150000"/>
              </a:lnSpc>
              <a:spcBef>
                <a:spcPts val="601"/>
              </a:spcBef>
              <a:spcAft>
                <a:spcPts val="1199"/>
              </a:spcAft>
              <a:buClr>
                <a:srgbClr val="808080"/>
              </a:buClr>
              <a:buFont typeface="Arial"/>
              <a:buChar char="•"/>
            </a:pPr>
            <a:r>
              <a:rPr b="0" lang="fr-FR" sz="2000" spc="-1" strike="noStrike">
                <a:solidFill>
                  <a:srgbClr val="808080"/>
                </a:solidFill>
                <a:latin typeface="Segoe UI"/>
              </a:rPr>
              <a:t>sudo apt-get install docker-ce docker-ce-cli containerd.io</a:t>
            </a:r>
            <a:endParaRPr b="0" lang="en-US" sz="2000" spc="-1" strike="noStrike">
              <a:latin typeface="Arial"/>
            </a:endParaRPr>
          </a:p>
        </p:txBody>
      </p:sp>
      <p:sp>
        <p:nvSpPr>
          <p:cNvPr id="4" name="PlaceHolder 3"/>
          <p:cNvSpPr>
            <a:spLocks noGrp="1"/>
          </p:cNvSpPr>
          <p:nvPr>
            <p:ph type="sldNum" idx="5"/>
          </p:nvPr>
        </p:nvSpPr>
        <p:spPr/>
        <p:txBody>
          <a:bodyPr/>
          <a:p>
            <a:fld id="{FF12EBF9-57F7-4C4A-BB5C-F012C7A8E96A}"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hub</a:t>
            </a:r>
            <a:endParaRPr b="0" lang="en-US" sz="3600" spc="-1" strike="noStrike">
              <a:latin typeface="Arial"/>
            </a:endParaRPr>
          </a:p>
        </p:txBody>
      </p:sp>
      <p:sp>
        <p:nvSpPr>
          <p:cNvPr id="124" name="PlaceHolder 2"/>
          <p:cNvSpPr>
            <a:spLocks noGrp="1"/>
          </p:cNvSpPr>
          <p:nvPr>
            <p:ph/>
          </p:nvPr>
        </p:nvSpPr>
        <p:spPr>
          <a:xfrm>
            <a:off x="780120" y="1731960"/>
            <a:ext cx="10631160" cy="4350600"/>
          </a:xfrm>
          <a:prstGeom prst="rect">
            <a:avLst/>
          </a:prstGeom>
          <a:noFill/>
          <a:ln w="0">
            <a:noFill/>
          </a:ln>
        </p:spPr>
        <p:txBody>
          <a:bodyPr lIns="90000" rIns="90000" tIns="45000" bIns="45000" anchor="t">
            <a:normAutofit fontScale="73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login to docker hub</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login</a:t>
            </a:r>
            <a:endParaRPr b="0" lang="en-US" sz="22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get an image:  </a:t>
            </a:r>
            <a:r>
              <a:rPr b="0" lang="en-US" sz="2200" spc="-1" strike="noStrike">
                <a:solidFill>
                  <a:srgbClr val="808080"/>
                </a:solidFill>
                <a:latin typeface="Segoe UI"/>
              </a:rPr>
              <a:t>docker pull &lt;image name&gt;:&lt;tag&gt;</a:t>
            </a:r>
            <a:endParaRPr b="0" lang="en-US" sz="22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pull ubuntu</a:t>
            </a:r>
            <a:endParaRPr b="0" lang="en-US" sz="20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search for an image: </a:t>
            </a:r>
            <a:r>
              <a:rPr b="0" lang="en-US" sz="2200" spc="-1" strike="noStrike">
                <a:solidFill>
                  <a:srgbClr val="808080"/>
                </a:solidFill>
                <a:latin typeface="Segoe UI"/>
              </a:rPr>
              <a:t> docker search &lt;image&gt;</a:t>
            </a:r>
            <a:endParaRPr b="0" lang="en-US" sz="22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search ubuntu</a:t>
            </a:r>
            <a:endParaRPr b="0" lang="en-US" sz="20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Logout: docker logout</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logout</a:t>
            </a:r>
            <a:endParaRPr b="0" lang="en-US" sz="2200" spc="-1" strike="noStrike">
              <a:latin typeface="Arial"/>
            </a:endParaRPr>
          </a:p>
        </p:txBody>
      </p:sp>
      <p:sp>
        <p:nvSpPr>
          <p:cNvPr id="4" name="PlaceHolder 3"/>
          <p:cNvSpPr>
            <a:spLocks noGrp="1"/>
          </p:cNvSpPr>
          <p:nvPr>
            <p:ph type="sldNum" idx="5"/>
          </p:nvPr>
        </p:nvSpPr>
        <p:spPr/>
        <p:txBody>
          <a:bodyPr/>
          <a:p>
            <a:fld id="{35FBF3E9-C561-435B-9A11-9851C7C9DB88}"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images</a:t>
            </a:r>
            <a:endParaRPr b="0" lang="en-US" sz="3600" spc="-1" strike="noStrike">
              <a:latin typeface="Arial"/>
            </a:endParaRPr>
          </a:p>
        </p:txBody>
      </p:sp>
      <p:sp>
        <p:nvSpPr>
          <p:cNvPr id="126" name="PlaceHolder 2"/>
          <p:cNvSpPr>
            <a:spLocks noGrp="1"/>
          </p:cNvSpPr>
          <p:nvPr>
            <p:ph/>
          </p:nvPr>
        </p:nvSpPr>
        <p:spPr>
          <a:xfrm>
            <a:off x="780120" y="1731960"/>
            <a:ext cx="10631160" cy="4350600"/>
          </a:xfrm>
          <a:prstGeom prst="rect">
            <a:avLst/>
          </a:prstGeom>
          <a:noFill/>
          <a:ln w="0">
            <a:noFill/>
          </a:ln>
        </p:spPr>
        <p:txBody>
          <a:bodyPr lIns="90000" rIns="90000" tIns="45000" bIns="45000" anchor="t">
            <a:normAutofit/>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list all images:</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images</a:t>
            </a:r>
            <a:endParaRPr b="0" lang="en-US" sz="22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remove an image: docker rmi &lt;image&gt;</a:t>
            </a:r>
            <a:endParaRPr b="0" lang="en-US" sz="24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rmi ubuntu</a:t>
            </a:r>
            <a:endParaRPr b="0" lang="en-US" sz="20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display a container information: docker inspect &lt;image&gt;</a:t>
            </a:r>
            <a:endParaRPr b="0" lang="en-US" sz="24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inspect ubuntu</a:t>
            </a:r>
            <a:endParaRPr b="0" lang="en-US" sz="2000" spc="-1" strike="noStrike">
              <a:latin typeface="Arial"/>
            </a:endParaRPr>
          </a:p>
        </p:txBody>
      </p:sp>
      <p:sp>
        <p:nvSpPr>
          <p:cNvPr id="4" name="PlaceHolder 3"/>
          <p:cNvSpPr>
            <a:spLocks noGrp="1"/>
          </p:cNvSpPr>
          <p:nvPr>
            <p:ph type="sldNum" idx="5"/>
          </p:nvPr>
        </p:nvSpPr>
        <p:spPr/>
        <p:txBody>
          <a:bodyPr/>
          <a:p>
            <a:fld id="{7F346ACD-AC54-4A47-B2D2-9D2904A0039B}"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networking</a:t>
            </a:r>
            <a:endParaRPr b="0" lang="en-US" sz="3600" spc="-1" strike="noStrike">
              <a:latin typeface="Arial"/>
            </a:endParaRPr>
          </a:p>
        </p:txBody>
      </p:sp>
      <p:sp>
        <p:nvSpPr>
          <p:cNvPr id="128"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fontScale="98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Docker networking uses drivers to provide network functionality.</a:t>
            </a:r>
            <a:endParaRPr b="0" lang="en-US" sz="24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Bridge: The default driver forwards traffic between all connected containers and isolates them from the other containers are not connected to the bridge in the same docker host.</a:t>
            </a:r>
            <a:endParaRPr b="0" lang="en-US" sz="18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Host: Removes the network isolation, and the containers have no IP addresses. The connected containers uses the docker host sockets.</a:t>
            </a:r>
            <a:endParaRPr b="0" lang="en-US" sz="18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Overlay: Connects multiple docker daemons together without needs from OS routing.</a:t>
            </a:r>
            <a:endParaRPr b="0" lang="en-US" sz="18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Also, there are ipvlan, macvlan, none, and a custom network drivers.</a:t>
            </a:r>
            <a:endParaRPr b="0" lang="en-US" sz="1800" spc="-1" strike="noStrike">
              <a:latin typeface="Arial"/>
            </a:endParaRPr>
          </a:p>
          <a:p>
            <a:pPr>
              <a:lnSpc>
                <a:spcPct val="90000"/>
              </a:lnSpc>
              <a:spcBef>
                <a:spcPts val="1417"/>
              </a:spcBef>
              <a:buNone/>
            </a:pPr>
            <a:endParaRPr b="0" lang="en-US" sz="1800" spc="-1" strike="noStrike">
              <a:latin typeface="Arial"/>
            </a:endParaRPr>
          </a:p>
          <a:p>
            <a:pPr>
              <a:lnSpc>
                <a:spcPct val="90000"/>
              </a:lnSpc>
              <a:spcBef>
                <a:spcPts val="1417"/>
              </a:spcBef>
              <a:buNone/>
            </a:pPr>
            <a:endParaRPr b="0" lang="en-US" sz="1800" spc="-1" strike="noStrike">
              <a:latin typeface="Arial"/>
            </a:endParaRPr>
          </a:p>
        </p:txBody>
      </p:sp>
      <p:sp>
        <p:nvSpPr>
          <p:cNvPr id="4" name="PlaceHolder 3"/>
          <p:cNvSpPr>
            <a:spLocks noGrp="1"/>
          </p:cNvSpPr>
          <p:nvPr>
            <p:ph type="sldNum" idx="5"/>
          </p:nvPr>
        </p:nvSpPr>
        <p:spPr/>
        <p:txBody>
          <a:bodyPr/>
          <a:p>
            <a:fld id="{927A61BE-50B0-471D-876F-8CB561F38C6D}"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networking(contd)</a:t>
            </a:r>
            <a:endParaRPr b="0" lang="en-US" sz="3600" spc="-1" strike="noStrike">
              <a:latin typeface="Arial"/>
            </a:endParaRPr>
          </a:p>
        </p:txBody>
      </p:sp>
      <p:sp>
        <p:nvSpPr>
          <p:cNvPr id="130" name="PlaceHolder 2"/>
          <p:cNvSpPr>
            <a:spLocks noGrp="1"/>
          </p:cNvSpPr>
          <p:nvPr>
            <p:ph/>
          </p:nvPr>
        </p:nvSpPr>
        <p:spPr>
          <a:xfrm>
            <a:off x="780120" y="1731960"/>
            <a:ext cx="11174040" cy="4988880"/>
          </a:xfrm>
          <a:prstGeom prst="rect">
            <a:avLst/>
          </a:prstGeom>
          <a:noFill/>
          <a:ln w="0">
            <a:noFill/>
          </a:ln>
        </p:spPr>
        <p:txBody>
          <a:bodyPr lIns="90000" rIns="90000" tIns="45000" bIns="45000" anchor="t">
            <a:normAutofit fontScale="68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Working with docker bridge networking:</a:t>
            </a:r>
            <a:endParaRPr b="0" lang="en-US" sz="24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To create:</a:t>
            </a:r>
            <a:endParaRPr b="0" lang="en-US" sz="1800" spc="-1" strike="noStrike">
              <a:latin typeface="Arial"/>
            </a:endParaRPr>
          </a:p>
          <a:p>
            <a:pPr lvl="2" marL="1428840" indent="-285840">
              <a:lnSpc>
                <a:spcPct val="150000"/>
              </a:lnSpc>
              <a:spcBef>
                <a:spcPts val="479"/>
              </a:spcBef>
              <a:spcAft>
                <a:spcPts val="1199"/>
              </a:spcAft>
              <a:buClr>
                <a:srgbClr val="808080"/>
              </a:buClr>
              <a:buFont typeface="Arial"/>
              <a:buChar char="•"/>
            </a:pPr>
            <a:r>
              <a:rPr b="0" lang="en-US" sz="1600" spc="-1" strike="noStrike">
                <a:solidFill>
                  <a:srgbClr val="808080"/>
                </a:solidFill>
                <a:latin typeface="Segoe UI"/>
              </a:rPr>
              <a:t>sudo docker network create &lt;Network name&gt;</a:t>
            </a:r>
            <a:endParaRPr b="0" lang="en-US" sz="1600" spc="-1" strike="noStrike">
              <a:latin typeface="Arial"/>
            </a:endParaRPr>
          </a:p>
          <a:p>
            <a:pPr lvl="2" marL="1428840" indent="-285840">
              <a:lnSpc>
                <a:spcPct val="150000"/>
              </a:lnSpc>
              <a:spcBef>
                <a:spcPts val="479"/>
              </a:spcBef>
              <a:spcAft>
                <a:spcPts val="1199"/>
              </a:spcAft>
              <a:buClr>
                <a:srgbClr val="808080"/>
              </a:buClr>
              <a:buFont typeface="Arial"/>
              <a:buChar char="•"/>
            </a:pPr>
            <a:r>
              <a:rPr b="0" lang="en-US" sz="1600" spc="-1" strike="noStrike">
                <a:solidFill>
                  <a:srgbClr val="808080"/>
                </a:solidFill>
                <a:latin typeface="Segoe UI"/>
              </a:rPr>
              <a:t>docker network create --gateway  &lt;Gateway&gt; --subnet &lt;Subnet&gt; &lt;Network name&gt;</a:t>
            </a:r>
            <a:endParaRPr b="0" lang="en-US" sz="16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To list</a:t>
            </a:r>
            <a:endParaRPr b="0" lang="en-US" sz="1800" spc="-1" strike="noStrike">
              <a:latin typeface="Arial"/>
            </a:endParaRPr>
          </a:p>
          <a:p>
            <a:pPr lvl="2" marL="1428840" indent="-285840">
              <a:lnSpc>
                <a:spcPct val="150000"/>
              </a:lnSpc>
              <a:spcBef>
                <a:spcPts val="479"/>
              </a:spcBef>
              <a:spcAft>
                <a:spcPts val="1199"/>
              </a:spcAft>
              <a:buClr>
                <a:srgbClr val="808080"/>
              </a:buClr>
              <a:buFont typeface="Arial"/>
              <a:buChar char="•"/>
            </a:pPr>
            <a:r>
              <a:rPr b="0" lang="en-US" sz="1600" spc="-1" strike="noStrike">
                <a:solidFill>
                  <a:srgbClr val="808080"/>
                </a:solidFill>
                <a:latin typeface="Segoe UI"/>
              </a:rPr>
              <a:t>sudo docker network ls</a:t>
            </a:r>
            <a:endParaRPr b="0" lang="en-US" sz="16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To delete</a:t>
            </a:r>
            <a:endParaRPr b="0" lang="en-US" sz="1800" spc="-1" strike="noStrike">
              <a:latin typeface="Arial"/>
            </a:endParaRPr>
          </a:p>
          <a:p>
            <a:pPr lvl="2" marL="1428840" indent="-285840">
              <a:lnSpc>
                <a:spcPct val="150000"/>
              </a:lnSpc>
              <a:spcBef>
                <a:spcPts val="479"/>
              </a:spcBef>
              <a:spcAft>
                <a:spcPts val="1199"/>
              </a:spcAft>
              <a:buClr>
                <a:srgbClr val="808080"/>
              </a:buClr>
              <a:buFont typeface="Arial"/>
              <a:buChar char="•"/>
            </a:pPr>
            <a:r>
              <a:rPr b="0" lang="en-US" sz="1600" spc="-1" strike="noStrike">
                <a:solidFill>
                  <a:srgbClr val="808080"/>
                </a:solidFill>
                <a:latin typeface="Segoe UI"/>
              </a:rPr>
              <a:t>sudo docker network rm &lt;network name&gt;</a:t>
            </a:r>
            <a:endParaRPr b="0" lang="en-US" sz="16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To display network information</a:t>
            </a:r>
            <a:endParaRPr b="0" lang="en-US" sz="1800" spc="-1" strike="noStrike">
              <a:latin typeface="Arial"/>
            </a:endParaRPr>
          </a:p>
          <a:p>
            <a:pPr lvl="2" marL="1428840" indent="-285840">
              <a:lnSpc>
                <a:spcPct val="150000"/>
              </a:lnSpc>
              <a:spcBef>
                <a:spcPts val="479"/>
              </a:spcBef>
              <a:spcAft>
                <a:spcPts val="1199"/>
              </a:spcAft>
              <a:buClr>
                <a:srgbClr val="808080"/>
              </a:buClr>
              <a:buFont typeface="Arial"/>
              <a:buChar char="•"/>
            </a:pPr>
            <a:r>
              <a:rPr b="0" lang="en-US" sz="1600" spc="-1" strike="noStrike">
                <a:solidFill>
                  <a:srgbClr val="808080"/>
                </a:solidFill>
                <a:latin typeface="Segoe UI"/>
              </a:rPr>
              <a:t>sudo docker network inspet &lt;network name&gt;</a:t>
            </a:r>
            <a:endParaRPr b="0" lang="en-US" sz="1600" spc="-1" strike="noStrike">
              <a:latin typeface="Arial"/>
            </a:endParaRPr>
          </a:p>
          <a:p>
            <a:pPr lvl="1" marL="9716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To connect a container to a network</a:t>
            </a:r>
            <a:endParaRPr b="0" lang="en-US" sz="1800" spc="-1" strike="noStrike">
              <a:latin typeface="Arial"/>
            </a:endParaRPr>
          </a:p>
          <a:p>
            <a:pPr lvl="2" marL="1428840" indent="-285840">
              <a:lnSpc>
                <a:spcPct val="150000"/>
              </a:lnSpc>
              <a:spcBef>
                <a:spcPts val="479"/>
              </a:spcBef>
              <a:spcAft>
                <a:spcPts val="1199"/>
              </a:spcAft>
              <a:buClr>
                <a:srgbClr val="808080"/>
              </a:buClr>
              <a:buFont typeface="Arial"/>
              <a:buChar char="•"/>
            </a:pPr>
            <a:r>
              <a:rPr b="0" lang="en-US" sz="1600" spc="-1" strike="noStrike">
                <a:solidFill>
                  <a:srgbClr val="808080"/>
                </a:solidFill>
                <a:latin typeface="Segoe UI"/>
              </a:rPr>
              <a:t>sudo docker network connect &lt;Network nae&gt; &lt;Container name&gt;</a:t>
            </a:r>
            <a:endParaRPr b="0" lang="en-US" sz="1600" spc="-1" strike="noStrike">
              <a:latin typeface="Arial"/>
            </a:endParaRPr>
          </a:p>
          <a:p>
            <a:pPr>
              <a:lnSpc>
                <a:spcPct val="90000"/>
              </a:lnSpc>
              <a:spcBef>
                <a:spcPts val="1417"/>
              </a:spcBef>
              <a:buNone/>
            </a:pPr>
            <a:endParaRPr b="0" lang="en-US" sz="1800" spc="-1" strike="noStrike">
              <a:latin typeface="Arial"/>
            </a:endParaRPr>
          </a:p>
          <a:p>
            <a:pPr>
              <a:lnSpc>
                <a:spcPct val="90000"/>
              </a:lnSpc>
              <a:spcBef>
                <a:spcPts val="1417"/>
              </a:spcBef>
              <a:buNone/>
            </a:pPr>
            <a:endParaRPr b="0" lang="en-US" sz="1800" spc="-1" strike="noStrike">
              <a:latin typeface="Arial"/>
            </a:endParaRPr>
          </a:p>
        </p:txBody>
      </p:sp>
      <p:sp>
        <p:nvSpPr>
          <p:cNvPr id="4" name="PlaceHolder 3"/>
          <p:cNvSpPr>
            <a:spLocks noGrp="1"/>
          </p:cNvSpPr>
          <p:nvPr>
            <p:ph type="sldNum" idx="5"/>
          </p:nvPr>
        </p:nvSpPr>
        <p:spPr/>
        <p:txBody>
          <a:bodyPr/>
          <a:p>
            <a:fld id="{9078BB42-5CD5-42F3-8B85-F1AC3A949BBE}" type="slidenum">
              <a:t>17</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Container life cycle</a:t>
            </a:r>
            <a:endParaRPr b="0" lang="en-US" sz="3600" spc="-1" strike="noStrike">
              <a:latin typeface="Arial"/>
            </a:endParaRPr>
          </a:p>
        </p:txBody>
      </p:sp>
      <p:sp>
        <p:nvSpPr>
          <p:cNvPr id="132"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fontScale="97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list all running containers: docker ps-a</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ps -a</a:t>
            </a:r>
            <a:endParaRPr b="0" lang="en-US" sz="22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Create a container from docker image: docker run &lt;options&gt; &lt;image name&gt;</a:t>
            </a:r>
            <a:endParaRPr b="0" lang="en-US" sz="2400" spc="-1" strike="noStrike">
              <a:latin typeface="Arial"/>
            </a:endParaRPr>
          </a:p>
          <a:p>
            <a:pPr lvl="2" marL="1428840" indent="-285840">
              <a:lnSpc>
                <a:spcPct val="150000"/>
              </a:lnSpc>
              <a:spcBef>
                <a:spcPts val="541"/>
              </a:spcBef>
              <a:spcAft>
                <a:spcPts val="1199"/>
              </a:spcAft>
              <a:buClr>
                <a:srgbClr val="808080"/>
              </a:buClr>
              <a:buFont typeface="Arial"/>
              <a:buChar char="•"/>
            </a:pPr>
            <a:r>
              <a:rPr b="0" lang="en-US" sz="1800" spc="-1" strike="noStrike">
                <a:solidFill>
                  <a:srgbClr val="808080"/>
                </a:solidFill>
                <a:latin typeface="Segoe UI"/>
              </a:rPr>
              <a:t>-t:Terminal, -d: Daemon, -p &lt;host port&gt;:&lt;container port&gt;, --name &lt;container name&gt;,--ip &lt;ip&gt;, -e VAR=VALUE</a:t>
            </a:r>
            <a:endParaRPr b="0" lang="en-US" sz="18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run –td –p  81:80 –name myweb ubuntu</a:t>
            </a:r>
            <a:endParaRPr b="0" lang="en-US" sz="2000" spc="-1" strike="noStrike">
              <a:latin typeface="Arial"/>
            </a:endParaRPr>
          </a:p>
        </p:txBody>
      </p:sp>
      <p:sp>
        <p:nvSpPr>
          <p:cNvPr id="4" name="PlaceHolder 3"/>
          <p:cNvSpPr>
            <a:spLocks noGrp="1"/>
          </p:cNvSpPr>
          <p:nvPr>
            <p:ph type="sldNum" idx="5"/>
          </p:nvPr>
        </p:nvSpPr>
        <p:spPr/>
        <p:txBody>
          <a:bodyPr/>
          <a:p>
            <a:fld id="{92636E04-180B-4ECC-80E9-113032973DF8}" type="slidenum">
              <a:t>18</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Executing command</a:t>
            </a:r>
            <a:endParaRPr b="0" lang="en-US" sz="3600" spc="-1" strike="noStrike">
              <a:latin typeface="Arial"/>
            </a:endParaRPr>
          </a:p>
        </p:txBody>
      </p:sp>
      <p:sp>
        <p:nvSpPr>
          <p:cNvPr id="134"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execute a command : docker exec &lt;options&gt; &lt;container&gt; &lt;command&gt;</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exec –it myweb bash</a:t>
            </a:r>
            <a:endParaRPr b="0" lang="en-US" sz="2200" spc="-1" strike="noStrike">
              <a:latin typeface="Arial"/>
            </a:endParaRPr>
          </a:p>
        </p:txBody>
      </p:sp>
      <p:sp>
        <p:nvSpPr>
          <p:cNvPr id="4" name="PlaceHolder 3"/>
          <p:cNvSpPr>
            <a:spLocks noGrp="1"/>
          </p:cNvSpPr>
          <p:nvPr>
            <p:ph type="sldNum" idx="5"/>
          </p:nvPr>
        </p:nvSpPr>
        <p:spPr/>
        <p:txBody>
          <a:bodyPr/>
          <a:p>
            <a:fld id="{371B635A-0E71-4098-ADDF-D7433D4A384E}" type="slidenum">
              <a:t>19</a:t>
            </a:fld>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Container management</a:t>
            </a:r>
            <a:endParaRPr b="0" lang="en-US" sz="3600" spc="-1" strike="noStrike">
              <a:latin typeface="Arial"/>
            </a:endParaRPr>
          </a:p>
        </p:txBody>
      </p:sp>
      <p:sp>
        <p:nvSpPr>
          <p:cNvPr id="136"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fontScale="60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stop a container: docker stop &lt;container&gt;</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stop mytest</a:t>
            </a:r>
            <a:endParaRPr b="0" lang="en-US" sz="22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start a stopped container: docker start &lt;container&gt;</a:t>
            </a:r>
            <a:endParaRPr b="0" lang="en-US" sz="24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start mytest</a:t>
            </a:r>
            <a:endParaRPr b="0" lang="en-US" sz="20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remove a stopped container: docker rm &lt;container&gt;</a:t>
            </a:r>
            <a:endParaRPr b="0" lang="en-US" sz="24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rm mytest</a:t>
            </a:r>
            <a:endParaRPr b="0" lang="en-US" sz="2000" spc="-1" strike="noStrike">
              <a:latin typeface="Arial"/>
            </a:endParaRPr>
          </a:p>
          <a:p>
            <a:pPr marL="343080" indent="-34308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copy files/directory: docker cp &lt;src&gt; &lt;container&gt;:&lt;dest&gt; or docker cp &lt;container&gt;:&lt;src&gt; &lt;dest&gt;</a:t>
            </a:r>
            <a:endParaRPr b="0" lang="en-US" sz="2200" spc="-1" strike="noStrike">
              <a:latin typeface="Arial"/>
            </a:endParaRPr>
          </a:p>
          <a:p>
            <a:pPr lvl="1" marL="1028880" indent="-34308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cp /tmp/myfile mytest:/tmp</a:t>
            </a:r>
            <a:endParaRPr b="0" lang="en-US" sz="2000" spc="-1" strike="noStrike">
              <a:latin typeface="Arial"/>
            </a:endParaRPr>
          </a:p>
          <a:p>
            <a:pPr marL="343080" indent="-34308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display information about container: docker inspect &lt;container&gt;</a:t>
            </a:r>
            <a:endParaRPr b="0" lang="en-US" sz="2200" spc="-1" strike="noStrike">
              <a:latin typeface="Arial"/>
            </a:endParaRPr>
          </a:p>
          <a:p>
            <a:pPr lvl="1" marL="1028880" indent="-34308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inspect myweb1</a:t>
            </a:r>
            <a:endParaRPr b="0" lang="en-US" sz="2000" spc="-1" strike="noStrike">
              <a:latin typeface="Arial"/>
            </a:endParaRPr>
          </a:p>
        </p:txBody>
      </p:sp>
      <p:sp>
        <p:nvSpPr>
          <p:cNvPr id="4" name="PlaceHolder 3"/>
          <p:cNvSpPr>
            <a:spLocks noGrp="1"/>
          </p:cNvSpPr>
          <p:nvPr>
            <p:ph type="sldNum" idx="5"/>
          </p:nvPr>
        </p:nvSpPr>
        <p:spPr/>
        <p:txBody>
          <a:bodyPr/>
          <a:p>
            <a:fld id="{680D4483-5038-42D2-BE22-956B2C20D408}"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Persistent storage</a:t>
            </a:r>
            <a:endParaRPr b="0" lang="en-US" sz="3600" spc="-1" strike="noStrike">
              <a:latin typeface="Arial"/>
            </a:endParaRPr>
          </a:p>
        </p:txBody>
      </p:sp>
      <p:sp>
        <p:nvSpPr>
          <p:cNvPr id="138" name="PlaceHolder 2"/>
          <p:cNvSpPr>
            <a:spLocks noGrp="1"/>
          </p:cNvSpPr>
          <p:nvPr>
            <p:ph/>
          </p:nvPr>
        </p:nvSpPr>
        <p:spPr>
          <a:xfrm>
            <a:off x="854640" y="2070720"/>
            <a:ext cx="10631160" cy="4350600"/>
          </a:xfrm>
          <a:prstGeom prst="rect">
            <a:avLst/>
          </a:prstGeom>
          <a:noFill/>
          <a:ln w="0">
            <a:noFill/>
          </a:ln>
        </p:spPr>
        <p:txBody>
          <a:bodyPr lIns="90000" rIns="90000" tIns="45000" bIns="45000" anchor="t">
            <a:normAutofit fontScale="72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Containers are temporary and ephemeral</a:t>
            </a:r>
            <a:endParaRPr b="0" lang="en-US" sz="24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Persistent storage is an external storage that mounted to a directory inside the container </a:t>
            </a:r>
            <a:endParaRPr b="0" lang="en-US" sz="24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4 types of persistent storage </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Volumes: Stored as a part of docker host file system. Should not be modified outside container.. Created under /var/lib/docker/volumes. Volume drivers allowing storing data to remote hosts.</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Bind: A directory on docker host. Can be modified outside container.</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Tmpfsmounts. Stored in the host memory.</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Named pipe: Used for communication between docker host and the container.</a:t>
            </a:r>
            <a:endParaRPr b="0" lang="en-US" sz="2200" spc="-1" strike="noStrike">
              <a:latin typeface="Arial"/>
            </a:endParaRPr>
          </a:p>
          <a:p>
            <a:pPr>
              <a:lnSpc>
                <a:spcPct val="90000"/>
              </a:lnSpc>
              <a:spcBef>
                <a:spcPts val="1417"/>
              </a:spcBef>
              <a:buNone/>
            </a:pPr>
            <a:endParaRPr b="0" lang="en-US" sz="2000" spc="-1" strike="noStrike">
              <a:latin typeface="Arial"/>
            </a:endParaRPr>
          </a:p>
        </p:txBody>
      </p:sp>
      <p:sp>
        <p:nvSpPr>
          <p:cNvPr id="4" name="PlaceHolder 3"/>
          <p:cNvSpPr>
            <a:spLocks noGrp="1"/>
          </p:cNvSpPr>
          <p:nvPr>
            <p:ph type="sldNum" idx="5"/>
          </p:nvPr>
        </p:nvSpPr>
        <p:spPr/>
        <p:txBody>
          <a:bodyPr/>
          <a:p>
            <a:fld id="{6C88FBE9-74A7-423F-A547-CAC471EF8693}"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Persistent storage (contd)</a:t>
            </a:r>
            <a:endParaRPr b="0" lang="en-US" sz="3600" spc="-1" strike="noStrike">
              <a:latin typeface="Arial"/>
            </a:endParaRPr>
          </a:p>
        </p:txBody>
      </p:sp>
      <p:sp>
        <p:nvSpPr>
          <p:cNvPr id="140"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fontScale="75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create a volume: docker volume create &lt;volme name&gt;</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volume create mydb</a:t>
            </a:r>
            <a:endParaRPr b="0" lang="en-US" sz="22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list configured volumes</a:t>
            </a:r>
            <a:endParaRPr b="0" lang="en-US" sz="24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volume ls</a:t>
            </a:r>
            <a:endParaRPr b="0" lang="en-US" sz="20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remove a volume: docker volume rm &lt;volume&gt;</a:t>
            </a:r>
            <a:endParaRPr b="0" lang="en-US" sz="24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volume rm mydb</a:t>
            </a:r>
            <a:endParaRPr b="0" lang="en-US" sz="2000" spc="-1" strike="noStrike">
              <a:latin typeface="Arial"/>
            </a:endParaRPr>
          </a:p>
          <a:p>
            <a:pPr marL="343080" indent="-34308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display information about a volume: docker volume inspect &lt;volume&gt;</a:t>
            </a:r>
            <a:endParaRPr b="0" lang="en-US" sz="2200" spc="-1" strike="noStrike">
              <a:latin typeface="Arial"/>
            </a:endParaRPr>
          </a:p>
          <a:p>
            <a:pPr lvl="1" marL="1028880" indent="-34308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volume inspect mydb</a:t>
            </a:r>
            <a:endParaRPr b="0" lang="en-US" sz="2000" spc="-1" strike="noStrike">
              <a:latin typeface="Arial"/>
            </a:endParaRPr>
          </a:p>
        </p:txBody>
      </p:sp>
      <p:sp>
        <p:nvSpPr>
          <p:cNvPr id="4" name="PlaceHolder 3"/>
          <p:cNvSpPr>
            <a:spLocks noGrp="1"/>
          </p:cNvSpPr>
          <p:nvPr>
            <p:ph type="sldNum" idx="5"/>
          </p:nvPr>
        </p:nvSpPr>
        <p:spPr/>
        <p:txBody>
          <a:bodyPr/>
          <a:p>
            <a:fld id="{72469A0D-EC1E-4FCA-976F-D7F44CCD5473}"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Persistent storage (contd)</a:t>
            </a:r>
            <a:endParaRPr b="0" lang="en-US" sz="3600" spc="-1" strike="noStrike">
              <a:latin typeface="Arial"/>
            </a:endParaRPr>
          </a:p>
        </p:txBody>
      </p:sp>
      <p:sp>
        <p:nvSpPr>
          <p:cNvPr id="142"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fontScale="91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start a container with  volume: docker run with mount options</a:t>
            </a:r>
            <a:endParaRPr b="0" lang="en-US" sz="24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--mount type=volume,src=&lt;volume&gt;,dst=&lt;container directory&gt;</a:t>
            </a:r>
            <a:endParaRPr b="0" lang="en-US" sz="20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run –td –name myweb1 --mount type=volume,src=mydb,dst=/koko ubuntu</a:t>
            </a:r>
            <a:endParaRPr b="0" lang="en-US" sz="22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start a container with bind options: docker run with mount options</a:t>
            </a:r>
            <a:endParaRPr b="0" lang="en-US" sz="24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--mount type=bind,src=&lt;docker host dir&gt;,dst=&lt;container directory&gt;</a:t>
            </a:r>
            <a:endParaRPr b="0" lang="en-US" sz="20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run –td –name myweb1 --mount type=bind,src=/hd,dst=/koko ubuntu</a:t>
            </a:r>
            <a:endParaRPr b="0" lang="en-US" sz="2000" spc="-1" strike="noStrike">
              <a:latin typeface="Arial"/>
            </a:endParaRPr>
          </a:p>
        </p:txBody>
      </p:sp>
      <p:sp>
        <p:nvSpPr>
          <p:cNvPr id="4" name="PlaceHolder 3"/>
          <p:cNvSpPr>
            <a:spLocks noGrp="1"/>
          </p:cNvSpPr>
          <p:nvPr>
            <p:ph type="sldNum" idx="5"/>
          </p:nvPr>
        </p:nvSpPr>
        <p:spPr/>
        <p:txBody>
          <a:bodyPr/>
          <a:p>
            <a:fld id="{87530CC1-E778-410E-BFEE-26F65B21EE2E}" type="slidenum">
              <a:t>23</a:t>
            </a:fld>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Logs and monitoring</a:t>
            </a:r>
            <a:endParaRPr b="0" lang="en-US" sz="3600" spc="-1" strike="noStrike">
              <a:latin typeface="Arial"/>
            </a:endParaRPr>
          </a:p>
        </p:txBody>
      </p:sp>
      <p:sp>
        <p:nvSpPr>
          <p:cNvPr id="144"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fontScale="75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check resource usage: docker stats</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stats</a:t>
            </a:r>
            <a:endParaRPr b="0" lang="en-US" sz="22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debug events:: docker events</a:t>
            </a:r>
            <a:endParaRPr b="0" lang="en-US" sz="24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events</a:t>
            </a:r>
            <a:endParaRPr b="0" lang="en-US" sz="2000" spc="-1" strike="noStrike">
              <a:latin typeface="Arial"/>
            </a:endParaRPr>
          </a:p>
          <a:p>
            <a:pPr marL="343080" indent="-34308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display running processes: docker top &lt;container&gt;</a:t>
            </a:r>
            <a:endParaRPr b="0" lang="en-US" sz="22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top myweb1</a:t>
            </a:r>
            <a:endParaRPr b="0" lang="en-US" sz="2000" spc="-1" strike="noStrike">
              <a:latin typeface="Arial"/>
            </a:endParaRPr>
          </a:p>
          <a:p>
            <a:pPr marL="343080" indent="-34308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display container logs: docker logs &lt;container&gt;</a:t>
            </a:r>
            <a:endParaRPr b="0" lang="en-US" sz="2200" spc="-1" strike="noStrike">
              <a:latin typeface="Arial"/>
            </a:endParaRPr>
          </a:p>
          <a:p>
            <a:pPr lvl="1" marL="9716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$sudo docker logs myweb1</a:t>
            </a:r>
            <a:endParaRPr b="0" lang="en-US" sz="2000" spc="-1" strike="noStrike">
              <a:latin typeface="Arial"/>
            </a:endParaRPr>
          </a:p>
        </p:txBody>
      </p:sp>
      <p:sp>
        <p:nvSpPr>
          <p:cNvPr id="4" name="PlaceHolder 3"/>
          <p:cNvSpPr>
            <a:spLocks noGrp="1"/>
          </p:cNvSpPr>
          <p:nvPr>
            <p:ph type="sldNum" idx="5"/>
          </p:nvPr>
        </p:nvSpPr>
        <p:spPr/>
        <p:txBody>
          <a:bodyPr/>
          <a:p>
            <a:fld id="{5BD14B3D-BEDD-4B11-8ECD-C666E2C54D25}"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compose</a:t>
            </a:r>
            <a:endParaRPr b="0" lang="en-US" sz="3600" spc="-1" strike="noStrike">
              <a:latin typeface="Arial"/>
            </a:endParaRPr>
          </a:p>
        </p:txBody>
      </p:sp>
      <p:sp>
        <p:nvSpPr>
          <p:cNvPr id="146"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fontScale="94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Tool to help define and share multi-container application.</a:t>
            </a:r>
            <a:endParaRPr b="0" lang="en-US" sz="24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With yaml file, and with a single docker-compose command to spin up everything or tear it all down.</a:t>
            </a:r>
            <a:endParaRPr b="0" lang="en-US" sz="24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Define all application stack in one yaml file which can be stored in SVN root.</a:t>
            </a:r>
            <a:endParaRPr b="0" lang="en-US" sz="2400" spc="-1" strike="noStrike">
              <a:latin typeface="Arial"/>
            </a:endParaRPr>
          </a:p>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The services defined will be created in order they appear in the yaml file.</a:t>
            </a:r>
            <a:endParaRPr b="0" lang="en-US" sz="2400" spc="-1" strike="noStrike">
              <a:latin typeface="Arial"/>
            </a:endParaRPr>
          </a:p>
          <a:p>
            <a:pPr>
              <a:lnSpc>
                <a:spcPct val="150000"/>
              </a:lnSpc>
              <a:spcBef>
                <a:spcPts val="601"/>
              </a:spcBef>
              <a:spcAft>
                <a:spcPts val="1199"/>
              </a:spcAft>
              <a:buNone/>
            </a:pPr>
            <a:endParaRPr b="0" lang="en-US" sz="2000" spc="-1" strike="noStrike">
              <a:latin typeface="Arial"/>
            </a:endParaRPr>
          </a:p>
        </p:txBody>
      </p:sp>
      <p:sp>
        <p:nvSpPr>
          <p:cNvPr id="4" name="PlaceHolder 3"/>
          <p:cNvSpPr>
            <a:spLocks noGrp="1"/>
          </p:cNvSpPr>
          <p:nvPr>
            <p:ph type="sldNum" idx="5"/>
          </p:nvPr>
        </p:nvSpPr>
        <p:spPr/>
        <p:txBody>
          <a:bodyPr/>
          <a:p>
            <a:fld id="{4E963B6B-EB4C-4ED1-A1C2-6A84EEC7A54C}" type="slidenum">
              <a:t>25</a:t>
            </a:fld>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compose(contd)</a:t>
            </a:r>
            <a:endParaRPr b="0" lang="en-US" sz="3600" spc="-1" strike="noStrike">
              <a:latin typeface="Arial"/>
            </a:endParaRPr>
          </a:p>
        </p:txBody>
      </p:sp>
      <p:sp>
        <p:nvSpPr>
          <p:cNvPr id="148"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install:</a:t>
            </a:r>
            <a:endParaRPr b="0" lang="en-US" sz="2400" spc="-1" strike="noStrike">
              <a:latin typeface="Arial"/>
            </a:endParaRPr>
          </a:p>
          <a:p>
            <a:pPr>
              <a:lnSpc>
                <a:spcPct val="150000"/>
              </a:lnSpc>
              <a:spcBef>
                <a:spcPts val="601"/>
              </a:spcBef>
              <a:spcAft>
                <a:spcPts val="1199"/>
              </a:spcAft>
              <a:buNone/>
              <a:tabLst>
                <a:tab algn="l" pos="0"/>
              </a:tabLst>
            </a:pPr>
            <a:r>
              <a:rPr b="0" lang="en-US" sz="2000" spc="-1" strike="noStrike">
                <a:solidFill>
                  <a:srgbClr val="808080"/>
                </a:solidFill>
                <a:latin typeface="Segoe UI"/>
              </a:rPr>
              <a:t>	</a:t>
            </a:r>
            <a:r>
              <a:rPr b="0" lang="en-US" sz="2000" spc="-1" strike="noStrike">
                <a:solidFill>
                  <a:srgbClr val="808080"/>
                </a:solidFill>
                <a:latin typeface="Segoe UI"/>
              </a:rPr>
              <a:t>sudo curl -L  "https://github.com/docker/compose/releases/download/1.29.2/docker-compose-$(uname -s)-$(uname -m)" -o /usr/local/bin/docker-compose</a:t>
            </a:r>
            <a:endParaRPr b="0" lang="en-US" sz="2000" spc="-1" strike="noStrike">
              <a:latin typeface="Arial"/>
            </a:endParaRPr>
          </a:p>
          <a:p>
            <a:pPr>
              <a:lnSpc>
                <a:spcPct val="150000"/>
              </a:lnSpc>
              <a:spcBef>
                <a:spcPts val="601"/>
              </a:spcBef>
              <a:spcAft>
                <a:spcPts val="1199"/>
              </a:spcAft>
              <a:buNone/>
              <a:tabLst>
                <a:tab algn="l" pos="0"/>
              </a:tabLst>
            </a:pPr>
            <a:r>
              <a:rPr b="0" lang="en-US" sz="2000" spc="-1" strike="noStrike">
                <a:solidFill>
                  <a:srgbClr val="808080"/>
                </a:solidFill>
                <a:latin typeface="Segoe UI"/>
              </a:rPr>
              <a:t>	</a:t>
            </a:r>
            <a:r>
              <a:rPr b="0" lang="en-US" sz="2000" spc="-1" strike="noStrike">
                <a:solidFill>
                  <a:srgbClr val="808080"/>
                </a:solidFill>
                <a:latin typeface="Segoe UI"/>
              </a:rPr>
              <a:t>sudo ln –s /usr/local/bin/docker-compose /usr/sbin</a:t>
            </a:r>
            <a:endParaRPr b="0" lang="en-US" sz="2000" spc="-1" strike="noStrike">
              <a:latin typeface="Arial"/>
            </a:endParaRPr>
          </a:p>
          <a:p>
            <a:pPr>
              <a:lnSpc>
                <a:spcPct val="150000"/>
              </a:lnSpc>
              <a:spcBef>
                <a:spcPts val="601"/>
              </a:spcBef>
              <a:spcAft>
                <a:spcPts val="1199"/>
              </a:spcAft>
              <a:buNone/>
              <a:tabLst>
                <a:tab algn="l" pos="0"/>
              </a:tabLst>
            </a:pPr>
            <a:r>
              <a:rPr b="0" lang="en-US" sz="2000" spc="-1" strike="noStrike">
                <a:solidFill>
                  <a:srgbClr val="808080"/>
                </a:solidFill>
                <a:latin typeface="Segoe UI"/>
              </a:rPr>
              <a:t>	</a:t>
            </a:r>
            <a:r>
              <a:rPr b="0" lang="en-US" sz="2000" spc="-1" strike="noStrike">
                <a:solidFill>
                  <a:srgbClr val="808080"/>
                </a:solidFill>
                <a:latin typeface="Segoe UI"/>
              </a:rPr>
              <a:t>sudo chmod a+x /usr/local/bin/docker-compose</a:t>
            </a:r>
            <a:endParaRPr b="0" lang="en-US" sz="2000" spc="-1" strike="noStrike">
              <a:latin typeface="Arial"/>
            </a:endParaRPr>
          </a:p>
          <a:p>
            <a:pPr>
              <a:lnSpc>
                <a:spcPct val="150000"/>
              </a:lnSpc>
              <a:spcBef>
                <a:spcPts val="601"/>
              </a:spcBef>
              <a:spcAft>
                <a:spcPts val="1199"/>
              </a:spcAft>
              <a:buNone/>
              <a:tabLst>
                <a:tab algn="l" pos="0"/>
              </a:tabLst>
            </a:pPr>
            <a:endParaRPr b="0" lang="en-US" sz="2000" spc="-1" strike="noStrike">
              <a:latin typeface="Arial"/>
            </a:endParaRPr>
          </a:p>
          <a:p>
            <a:pPr>
              <a:lnSpc>
                <a:spcPct val="150000"/>
              </a:lnSpc>
              <a:spcBef>
                <a:spcPts val="720"/>
              </a:spcBef>
              <a:spcAft>
                <a:spcPts val="1199"/>
              </a:spcAft>
              <a:buNone/>
              <a:tabLst>
                <a:tab algn="l" pos="0"/>
              </a:tabLst>
            </a:pPr>
            <a:endParaRPr b="0" lang="en-US" sz="2400" spc="-1" strike="noStrike">
              <a:latin typeface="Arial"/>
            </a:endParaRPr>
          </a:p>
          <a:p>
            <a:pPr>
              <a:lnSpc>
                <a:spcPct val="150000"/>
              </a:lnSpc>
              <a:spcBef>
                <a:spcPts val="720"/>
              </a:spcBef>
              <a:spcAft>
                <a:spcPts val="1199"/>
              </a:spcAft>
              <a:buNone/>
              <a:tabLst>
                <a:tab algn="l" pos="0"/>
              </a:tabLst>
            </a:pPr>
            <a:endParaRPr b="0" lang="en-US" sz="2400" spc="-1" strike="noStrike">
              <a:latin typeface="Arial"/>
            </a:endParaRPr>
          </a:p>
          <a:p>
            <a:pPr>
              <a:lnSpc>
                <a:spcPct val="90000"/>
              </a:lnSpc>
              <a:spcBef>
                <a:spcPts val="1417"/>
              </a:spcBef>
              <a:buNone/>
              <a:tabLst>
                <a:tab algn="l" pos="0"/>
              </a:tabLst>
            </a:pPr>
            <a:endParaRPr b="0" lang="en-US" sz="2200" spc="-1" strike="noStrike">
              <a:latin typeface="Arial"/>
            </a:endParaRPr>
          </a:p>
          <a:p>
            <a:pPr>
              <a:lnSpc>
                <a:spcPct val="150000"/>
              </a:lnSpc>
              <a:spcBef>
                <a:spcPts val="601"/>
              </a:spcBef>
              <a:spcAft>
                <a:spcPts val="1199"/>
              </a:spcAft>
              <a:buNone/>
              <a:tabLst>
                <a:tab algn="l" pos="0"/>
              </a:tabLst>
            </a:pPr>
            <a:endParaRPr b="0" lang="en-US" sz="2000" spc="-1" strike="noStrike">
              <a:latin typeface="Arial"/>
            </a:endParaRPr>
          </a:p>
        </p:txBody>
      </p:sp>
      <p:sp>
        <p:nvSpPr>
          <p:cNvPr id="4" name="PlaceHolder 3"/>
          <p:cNvSpPr>
            <a:spLocks noGrp="1"/>
          </p:cNvSpPr>
          <p:nvPr>
            <p:ph type="sldNum" idx="5"/>
          </p:nvPr>
        </p:nvSpPr>
        <p:spPr/>
        <p:txBody>
          <a:bodyPr/>
          <a:p>
            <a:fld id="{A4A4144B-EC80-4F50-BAC6-DB9964EE7F3B}" type="slidenum">
              <a:t>26</a:t>
            </a:fld>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compose(contd)</a:t>
            </a:r>
            <a:endParaRPr b="0" lang="en-US" sz="3600" spc="-1" strike="noStrike">
              <a:latin typeface="Arial"/>
            </a:endParaRPr>
          </a:p>
        </p:txBody>
      </p:sp>
      <p:sp>
        <p:nvSpPr>
          <p:cNvPr id="150" name="PlaceHolder 2"/>
          <p:cNvSpPr>
            <a:spLocks noGrp="1"/>
          </p:cNvSpPr>
          <p:nvPr>
            <p:ph/>
          </p:nvPr>
        </p:nvSpPr>
        <p:spPr>
          <a:xfrm>
            <a:off x="780120" y="1731960"/>
            <a:ext cx="11174040" cy="4350600"/>
          </a:xfrm>
          <a:prstGeom prst="rect">
            <a:avLst/>
          </a:prstGeom>
          <a:noFill/>
          <a:ln w="0">
            <a:noFill/>
          </a:ln>
        </p:spPr>
        <p:txBody>
          <a:bodyPr lIns="90000" rIns="90000" tIns="45000" bIns="45000" anchor="t">
            <a:normAutofit/>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To use docker compose</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Create a docker file called docker-compose.yml</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spin up use: sudo docker-compose up –d</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tear down: sudo docker-compose down</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tear down and created volumes: sudo docker-compose down --volumes</a:t>
            </a:r>
            <a:endParaRPr b="0" lang="en-US" sz="2200" spc="-1" strike="noStrike">
              <a:latin typeface="Arial"/>
            </a:endParaRPr>
          </a:p>
          <a:p>
            <a:pPr>
              <a:lnSpc>
                <a:spcPct val="150000"/>
              </a:lnSpc>
              <a:spcBef>
                <a:spcPts val="720"/>
              </a:spcBef>
              <a:spcAft>
                <a:spcPts val="1199"/>
              </a:spcAft>
              <a:buNone/>
            </a:pPr>
            <a:endParaRPr b="0" lang="en-US" sz="2400" spc="-1" strike="noStrike">
              <a:latin typeface="Arial"/>
            </a:endParaRPr>
          </a:p>
          <a:p>
            <a:pPr>
              <a:lnSpc>
                <a:spcPct val="150000"/>
              </a:lnSpc>
              <a:spcBef>
                <a:spcPts val="720"/>
              </a:spcBef>
              <a:spcAft>
                <a:spcPts val="1199"/>
              </a:spcAft>
              <a:buNone/>
            </a:pPr>
            <a:endParaRPr b="0" lang="en-US" sz="2400" spc="-1" strike="noStrike">
              <a:latin typeface="Arial"/>
            </a:endParaRPr>
          </a:p>
          <a:p>
            <a:pPr>
              <a:lnSpc>
                <a:spcPct val="90000"/>
              </a:lnSpc>
              <a:spcBef>
                <a:spcPts val="1417"/>
              </a:spcBef>
              <a:buNone/>
            </a:pPr>
            <a:endParaRPr b="0" lang="en-US" sz="2200" spc="-1" strike="noStrike">
              <a:latin typeface="Arial"/>
            </a:endParaRPr>
          </a:p>
          <a:p>
            <a:pPr>
              <a:lnSpc>
                <a:spcPct val="150000"/>
              </a:lnSpc>
              <a:spcBef>
                <a:spcPts val="601"/>
              </a:spcBef>
              <a:spcAft>
                <a:spcPts val="1199"/>
              </a:spcAft>
              <a:buNone/>
            </a:pPr>
            <a:endParaRPr b="0" lang="en-US" sz="2000" spc="-1" strike="noStrike">
              <a:latin typeface="Arial"/>
            </a:endParaRPr>
          </a:p>
        </p:txBody>
      </p:sp>
      <p:sp>
        <p:nvSpPr>
          <p:cNvPr id="4" name="PlaceHolder 3"/>
          <p:cNvSpPr>
            <a:spLocks noGrp="1"/>
          </p:cNvSpPr>
          <p:nvPr>
            <p:ph type="sldNum" idx="5"/>
          </p:nvPr>
        </p:nvSpPr>
        <p:spPr/>
        <p:txBody>
          <a:bodyPr/>
          <a:p>
            <a:fld id="{A1A16758-04EB-4AFF-B11D-88324F05F01C}"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Docker compose(contd)</a:t>
            </a:r>
            <a:endParaRPr b="0" lang="en-US" sz="3600" spc="-1" strike="noStrike">
              <a:latin typeface="Arial"/>
            </a:endParaRPr>
          </a:p>
        </p:txBody>
      </p:sp>
      <p:sp>
        <p:nvSpPr>
          <p:cNvPr id="152" name="PlaceHolder 2"/>
          <p:cNvSpPr>
            <a:spLocks noGrp="1"/>
          </p:cNvSpPr>
          <p:nvPr>
            <p:ph/>
          </p:nvPr>
        </p:nvSpPr>
        <p:spPr>
          <a:xfrm>
            <a:off x="780120" y="1731960"/>
            <a:ext cx="3751560" cy="4350600"/>
          </a:xfrm>
          <a:prstGeom prst="rect">
            <a:avLst/>
          </a:prstGeom>
          <a:noFill/>
          <a:ln w="0">
            <a:noFill/>
          </a:ln>
        </p:spPr>
        <p:txBody>
          <a:bodyPr lIns="90000" rIns="90000" tIns="45000" bIns="45000" anchor="t">
            <a:normAutofit fontScale="98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Odoo example:</a:t>
            </a:r>
            <a:endParaRPr b="0" lang="en-US" sz="24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version: “3.7”</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services:</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 </a:t>
            </a:r>
            <a:r>
              <a:rPr b="0" lang="en-US" sz="1200" spc="-1" strike="noStrike">
                <a:solidFill>
                  <a:srgbClr val="808080"/>
                </a:solidFill>
                <a:latin typeface="Segoe UI"/>
              </a:rPr>
              <a:t>postgres:</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   </a:t>
            </a:r>
            <a:r>
              <a:rPr b="0" lang="en-US" sz="1200" spc="-1" strike="noStrike">
                <a:solidFill>
                  <a:srgbClr val="808080"/>
                </a:solidFill>
                <a:latin typeface="Segoe UI"/>
              </a:rPr>
              <a:t>container_name: db</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   </a:t>
            </a:r>
            <a:r>
              <a:rPr b="0" lang="en-US" sz="1200" spc="-1" strike="noStrike">
                <a:solidFill>
                  <a:srgbClr val="808080"/>
                </a:solidFill>
                <a:latin typeface="Segoe UI"/>
              </a:rPr>
              <a:t>image: postgres:13</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   </a:t>
            </a:r>
            <a:r>
              <a:rPr b="0" lang="en-US" sz="1200" spc="-1" strike="noStrike">
                <a:solidFill>
                  <a:srgbClr val="808080"/>
                </a:solidFill>
                <a:latin typeface="Segoe UI"/>
              </a:rPr>
              <a:t>environment:</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     </a:t>
            </a:r>
            <a:r>
              <a:rPr b="0" lang="en-US" sz="1200" spc="-1" strike="noStrike">
                <a:solidFill>
                  <a:srgbClr val="808080"/>
                </a:solidFill>
                <a:latin typeface="Segoe UI"/>
              </a:rPr>
              <a:t>POSTGRES_USER: odoo</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     </a:t>
            </a:r>
            <a:r>
              <a:rPr b="0" lang="en-US" sz="1200" spc="-1" strike="noStrike">
                <a:solidFill>
                  <a:srgbClr val="808080"/>
                </a:solidFill>
                <a:latin typeface="Segoe UI"/>
              </a:rPr>
              <a:t>POSTGRES_PASSWORD: odoo</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     </a:t>
            </a:r>
            <a:r>
              <a:rPr b="0" lang="en-US" sz="1200" spc="-1" strike="noStrike">
                <a:solidFill>
                  <a:srgbClr val="808080"/>
                </a:solidFill>
                <a:latin typeface="Segoe UI"/>
              </a:rPr>
              <a:t>POSTGRES_DB: postgres</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rPr>
              <a:t>-</a:t>
            </a:r>
            <a:endParaRPr b="0" lang="en-US" sz="1200" spc="-1" strike="noStrike">
              <a:latin typeface="Arial"/>
            </a:endParaRPr>
          </a:p>
          <a:p>
            <a:pPr marL="685800">
              <a:lnSpc>
                <a:spcPct val="150000"/>
              </a:lnSpc>
              <a:spcBef>
                <a:spcPts val="720"/>
              </a:spcBef>
              <a:spcAft>
                <a:spcPts val="1199"/>
              </a:spcAft>
              <a:buNone/>
              <a:tabLst>
                <a:tab algn="l" pos="0"/>
              </a:tabLst>
            </a:pPr>
            <a:endParaRPr b="0" lang="en-US" sz="2400" spc="-1" strike="noStrike">
              <a:latin typeface="Arial"/>
            </a:endParaRPr>
          </a:p>
          <a:p>
            <a:pPr marL="685800">
              <a:lnSpc>
                <a:spcPct val="90000"/>
              </a:lnSpc>
              <a:spcBef>
                <a:spcPts val="1417"/>
              </a:spcBef>
              <a:buNone/>
              <a:tabLst>
                <a:tab algn="l" pos="0"/>
              </a:tabLst>
            </a:pPr>
            <a:endParaRPr b="0" lang="en-US" sz="2200" spc="-1" strike="noStrike">
              <a:latin typeface="Arial"/>
            </a:endParaRPr>
          </a:p>
          <a:p>
            <a:pPr marL="685800">
              <a:lnSpc>
                <a:spcPct val="150000"/>
              </a:lnSpc>
              <a:spcBef>
                <a:spcPts val="601"/>
              </a:spcBef>
              <a:spcAft>
                <a:spcPts val="1199"/>
              </a:spcAft>
              <a:buNone/>
              <a:tabLst>
                <a:tab algn="l" pos="0"/>
              </a:tabLst>
            </a:pPr>
            <a:endParaRPr b="0" lang="en-US" sz="2000" spc="-1" strike="noStrike">
              <a:latin typeface="Arial"/>
            </a:endParaRPr>
          </a:p>
        </p:txBody>
      </p:sp>
      <p:sp>
        <p:nvSpPr>
          <p:cNvPr id="153" name="Content Placeholder 2"/>
          <p:cNvSpPr/>
          <p:nvPr/>
        </p:nvSpPr>
        <p:spPr>
          <a:xfrm>
            <a:off x="5266080" y="2326320"/>
            <a:ext cx="3751560" cy="4350600"/>
          </a:xfrm>
          <a:prstGeom prst="rect">
            <a:avLst/>
          </a:prstGeom>
          <a:noFill/>
          <a:ln w="0">
            <a:noFill/>
          </a:ln>
        </p:spPr>
        <p:style>
          <a:lnRef idx="0"/>
          <a:fillRef idx="0"/>
          <a:effectRef idx="0"/>
          <a:fontRef idx="minor"/>
        </p:style>
        <p:txBody>
          <a:bodyPr lIns="90000" rIns="90000" tIns="45000" bIns="45000" anchor="t">
            <a:normAutofit/>
          </a:bodyPr>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Odoo:</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  </a:t>
            </a:r>
            <a:r>
              <a:rPr b="0" lang="en-US" sz="1200" spc="-1" strike="noStrike">
                <a:solidFill>
                  <a:srgbClr val="808080"/>
                </a:solidFill>
                <a:latin typeface="Segoe UI"/>
                <a:ea typeface="DejaVu Sans"/>
              </a:rPr>
              <a:t>image: odoo</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  </a:t>
            </a:r>
            <a:r>
              <a:rPr b="0" lang="en-US" sz="1200" spc="-1" strike="noStrike">
                <a:solidFill>
                  <a:srgbClr val="808080"/>
                </a:solidFill>
                <a:latin typeface="Segoe UI"/>
                <a:ea typeface="DejaVu Sans"/>
              </a:rPr>
              <a:t>container_name: odoo</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  </a:t>
            </a:r>
            <a:r>
              <a:rPr b="0" lang="en-US" sz="1200" spc="-1" strike="noStrike">
                <a:solidFill>
                  <a:srgbClr val="808080"/>
                </a:solidFill>
                <a:latin typeface="Segoe UI"/>
                <a:ea typeface="DejaVu Sans"/>
              </a:rPr>
              <a:t>ports:</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    </a:t>
            </a:r>
            <a:r>
              <a:rPr b="0" lang="en-US" sz="1200" spc="-1" strike="noStrike">
                <a:solidFill>
                  <a:srgbClr val="808080"/>
                </a:solidFill>
                <a:latin typeface="Segoe UI"/>
                <a:ea typeface="DejaVu Sans"/>
              </a:rPr>
              <a:t>- 8069:8069</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  </a:t>
            </a:r>
            <a:r>
              <a:rPr b="0" lang="en-US" sz="1200" spc="-1" strike="noStrike">
                <a:solidFill>
                  <a:srgbClr val="808080"/>
                </a:solidFill>
                <a:latin typeface="Segoe UI"/>
                <a:ea typeface="DejaVu Sans"/>
              </a:rPr>
              <a:t>volumes:</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    </a:t>
            </a:r>
            <a:r>
              <a:rPr b="0" lang="en-US" sz="1200" spc="-1" strike="noStrike">
                <a:solidFill>
                  <a:srgbClr val="808080"/>
                </a:solidFill>
                <a:latin typeface="Segoe UI"/>
                <a:ea typeface="DejaVu Sans"/>
              </a:rPr>
              <a:t>- odoo-data:/var/lib/odoo</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volumes:</a:t>
            </a:r>
            <a:endParaRPr b="0" lang="en-US" sz="1200" spc="-1" strike="noStrike">
              <a:latin typeface="Arial"/>
            </a:endParaRPr>
          </a:p>
          <a:p>
            <a:pPr marL="685800">
              <a:lnSpc>
                <a:spcPct val="100000"/>
              </a:lnSpc>
              <a:spcBef>
                <a:spcPts val="360"/>
              </a:spcBef>
              <a:spcAft>
                <a:spcPts val="1199"/>
              </a:spcAft>
              <a:buNone/>
              <a:tabLst>
                <a:tab algn="l" pos="0"/>
              </a:tabLst>
            </a:pPr>
            <a:r>
              <a:rPr b="0" lang="en-US" sz="1200" spc="-1" strike="noStrike">
                <a:solidFill>
                  <a:srgbClr val="808080"/>
                </a:solidFill>
                <a:latin typeface="Segoe UI"/>
                <a:ea typeface="DejaVu Sans"/>
              </a:rPr>
              <a:t>   </a:t>
            </a:r>
            <a:r>
              <a:rPr b="0" lang="en-US" sz="1200" spc="-1" strike="noStrike">
                <a:solidFill>
                  <a:srgbClr val="808080"/>
                </a:solidFill>
                <a:latin typeface="Segoe UI"/>
                <a:ea typeface="DejaVu Sans"/>
              </a:rPr>
              <a:t>Odoo-data: </a:t>
            </a:r>
            <a:endParaRPr b="0" lang="en-US" sz="1200" spc="-1" strike="noStrike">
              <a:latin typeface="Arial"/>
            </a:endParaRPr>
          </a:p>
          <a:p>
            <a:pPr marL="685800">
              <a:lnSpc>
                <a:spcPct val="150000"/>
              </a:lnSpc>
              <a:spcBef>
                <a:spcPts val="720"/>
              </a:spcBef>
              <a:spcAft>
                <a:spcPts val="1199"/>
              </a:spcAft>
              <a:buNone/>
              <a:tabLst>
                <a:tab algn="l" pos="0"/>
              </a:tabLst>
            </a:pPr>
            <a:endParaRPr b="0" lang="en-US" sz="2400" spc="-1" strike="noStrike">
              <a:latin typeface="Arial"/>
            </a:endParaRPr>
          </a:p>
          <a:p>
            <a:pPr marL="685800">
              <a:lnSpc>
                <a:spcPct val="150000"/>
              </a:lnSpc>
              <a:spcBef>
                <a:spcPts val="660"/>
              </a:spcBef>
              <a:spcAft>
                <a:spcPts val="1199"/>
              </a:spcAft>
              <a:buNone/>
              <a:tabLst>
                <a:tab algn="l" pos="0"/>
              </a:tabLst>
            </a:pPr>
            <a:endParaRPr b="0" lang="en-US" sz="2200" spc="-1" strike="noStrike">
              <a:latin typeface="Arial"/>
            </a:endParaRPr>
          </a:p>
          <a:p>
            <a:pPr marL="685800">
              <a:lnSpc>
                <a:spcPct val="150000"/>
              </a:lnSpc>
              <a:spcBef>
                <a:spcPts val="601"/>
              </a:spcBef>
              <a:spcAft>
                <a:spcPts val="1199"/>
              </a:spcAft>
              <a:buNone/>
              <a:tabLst>
                <a:tab algn="l" pos="0"/>
              </a:tabLst>
            </a:pPr>
            <a:endParaRPr b="0" lang="en-US" sz="2000" spc="-1" strike="noStrike">
              <a:latin typeface="Arial"/>
            </a:endParaRPr>
          </a:p>
        </p:txBody>
      </p:sp>
      <p:sp>
        <p:nvSpPr>
          <p:cNvPr id="4" name="PlaceHolder 3"/>
          <p:cNvSpPr>
            <a:spLocks noGrp="1"/>
          </p:cNvSpPr>
          <p:nvPr>
            <p:ph type="sldNum" idx="5"/>
          </p:nvPr>
        </p:nvSpPr>
        <p:spPr/>
        <p:txBody>
          <a:bodyPr/>
          <a:p>
            <a:fld id="{47CFFCDE-4B3D-4EF5-8234-008C1BCF329D}"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Image management</a:t>
            </a:r>
            <a:endParaRPr b="0" lang="en-US" sz="3600" spc="-1" strike="noStrike">
              <a:latin typeface="Arial"/>
            </a:endParaRPr>
          </a:p>
        </p:txBody>
      </p:sp>
      <p:sp>
        <p:nvSpPr>
          <p:cNvPr id="155" name="PlaceHolder 2"/>
          <p:cNvSpPr>
            <a:spLocks noGrp="1"/>
          </p:cNvSpPr>
          <p:nvPr>
            <p:ph/>
          </p:nvPr>
        </p:nvSpPr>
        <p:spPr>
          <a:xfrm>
            <a:off x="780120" y="1718640"/>
            <a:ext cx="11174040" cy="4350600"/>
          </a:xfrm>
          <a:prstGeom prst="rect">
            <a:avLst/>
          </a:prstGeom>
          <a:noFill/>
          <a:ln w="0">
            <a:noFill/>
          </a:ln>
        </p:spPr>
        <p:txBody>
          <a:bodyPr lIns="90000" rIns="90000" tIns="45000" bIns="45000" anchor="t">
            <a:normAutofit fontScale="56000"/>
          </a:bodyPr>
          <a:p>
            <a:pPr marL="285840" indent="-285840">
              <a:lnSpc>
                <a:spcPct val="150000"/>
              </a:lnSpc>
              <a:spcBef>
                <a:spcPts val="720"/>
              </a:spcBef>
              <a:spcAft>
                <a:spcPts val="1199"/>
              </a:spcAft>
              <a:buClr>
                <a:srgbClr val="808080"/>
              </a:buClr>
              <a:buFont typeface="Arial"/>
              <a:buChar char="•"/>
            </a:pPr>
            <a:r>
              <a:rPr b="0" lang="en-US" sz="2400" spc="-1" strike="noStrike">
                <a:solidFill>
                  <a:srgbClr val="808080"/>
                </a:solidFill>
                <a:latin typeface="Segoe UI"/>
              </a:rPr>
              <a:t>Use a Dockerfile : docker build &lt;Directory&gt;/ -t &lt;image name&gt;</a:t>
            </a:r>
            <a:endParaRPr b="0" lang="en-US" sz="24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To create an image for apache based on ubuntu:</a:t>
            </a:r>
            <a:endParaRPr b="0" lang="en-US" sz="22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Create a file called Dockerfile</a:t>
            </a:r>
            <a:endParaRPr b="0" lang="en-US" sz="22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FROM ubuntu:latest</a:t>
            </a:r>
            <a:endParaRPr b="0" lang="en-US" sz="20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LABEL </a:t>
            </a:r>
            <a:r>
              <a:rPr b="0" lang="en-US" sz="2000" spc="-1" strike="noStrike" u="sng">
                <a:solidFill>
                  <a:srgbClr val="0563c1"/>
                </a:solidFill>
                <a:uFillTx/>
                <a:latin typeface="Segoe UI"/>
                <a:hlinkClick r:id="rId1"/>
              </a:rPr>
              <a:t>maintainer=compiler@aast.edu</a:t>
            </a:r>
            <a:endParaRPr b="0" lang="en-US" sz="20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ENV DEBIAN_FRONTEND=noninteractive</a:t>
            </a:r>
            <a:endParaRPr b="0" lang="en-US" sz="20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RUN apt update</a:t>
            </a:r>
            <a:endParaRPr b="0" lang="en-US" sz="20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RUN apt install apache2 –y</a:t>
            </a:r>
            <a:endParaRPr b="0" lang="en-US" sz="20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RUN echo "Welcome to  my Webserver" &gt; /var/www/html/index.html</a:t>
            </a:r>
            <a:endParaRPr b="0" lang="en-US" sz="2000" spc="-1" strike="noStrike">
              <a:latin typeface="Arial"/>
            </a:endParaRPr>
          </a:p>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CMD ["/usr/sbin/apache2ctl", "-DFOREGROUND"]</a:t>
            </a:r>
            <a:endParaRPr b="0" lang="en-US" sz="2000" spc="-1" strike="noStrike">
              <a:latin typeface="Arial"/>
            </a:endParaRPr>
          </a:p>
          <a:p>
            <a:pPr lvl="1" marL="971640" indent="-285840">
              <a:lnSpc>
                <a:spcPct val="150000"/>
              </a:lnSpc>
              <a:spcBef>
                <a:spcPts val="660"/>
              </a:spcBef>
              <a:spcAft>
                <a:spcPts val="1199"/>
              </a:spcAft>
              <a:buClr>
                <a:srgbClr val="808080"/>
              </a:buClr>
              <a:buFont typeface="Arial"/>
              <a:buChar char="•"/>
            </a:pPr>
            <a:r>
              <a:rPr b="0" lang="en-US" sz="2200" spc="-1" strike="noStrike">
                <a:solidFill>
                  <a:srgbClr val="808080"/>
                </a:solidFill>
                <a:latin typeface="Segoe UI"/>
              </a:rPr>
              <a:t>$sudo docker build MynewWeb/ -t mynewimage</a:t>
            </a:r>
            <a:endParaRPr b="0" lang="en-US" sz="2200" spc="-1" strike="noStrike">
              <a:latin typeface="Arial"/>
            </a:endParaRPr>
          </a:p>
          <a:p>
            <a:pPr>
              <a:lnSpc>
                <a:spcPct val="90000"/>
              </a:lnSpc>
              <a:spcBef>
                <a:spcPts val="1417"/>
              </a:spcBef>
              <a:buNone/>
            </a:pPr>
            <a:endParaRPr b="0" lang="en-US" sz="2000" spc="-1" strike="noStrike">
              <a:latin typeface="Arial"/>
            </a:endParaRPr>
          </a:p>
        </p:txBody>
      </p:sp>
      <p:sp>
        <p:nvSpPr>
          <p:cNvPr id="4" name="PlaceHolder 3"/>
          <p:cNvSpPr>
            <a:spLocks noGrp="1"/>
          </p:cNvSpPr>
          <p:nvPr>
            <p:ph type="sldNum" idx="5"/>
          </p:nvPr>
        </p:nvSpPr>
        <p:spPr/>
        <p:txBody>
          <a:bodyPr/>
          <a:p>
            <a:fld id="{DAD9058E-CE64-4948-8207-C2A1BDB08FE5}"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Backup and Restore</a:t>
            </a:r>
            <a:endParaRPr b="0" lang="en-US" sz="3600" spc="-1" strike="noStrike">
              <a:latin typeface="Arial"/>
            </a:endParaRPr>
          </a:p>
        </p:txBody>
      </p:sp>
      <p:sp>
        <p:nvSpPr>
          <p:cNvPr id="157" name="PlaceHolder 2"/>
          <p:cNvSpPr>
            <a:spLocks noGrp="1"/>
          </p:cNvSpPr>
          <p:nvPr>
            <p:ph/>
          </p:nvPr>
        </p:nvSpPr>
        <p:spPr>
          <a:xfrm>
            <a:off x="780120" y="1718640"/>
            <a:ext cx="11174040" cy="4350600"/>
          </a:xfrm>
          <a:prstGeom prst="rect">
            <a:avLst/>
          </a:prstGeom>
          <a:noFill/>
          <a:ln w="0">
            <a:noFill/>
          </a:ln>
        </p:spPr>
        <p:txBody>
          <a:bodyPr lIns="90000" rIns="90000" tIns="45000" bIns="45000" anchor="t">
            <a:normAutofit fontScale="96000"/>
          </a:bodyPr>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Images:</a:t>
            </a:r>
            <a:endParaRPr b="0" lang="en-US" sz="2000" spc="-1" strike="noStrike">
              <a:latin typeface="Arial"/>
            </a:endParaRPr>
          </a:p>
          <a:p>
            <a:pPr lvl="3" marL="18860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Backup:</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Dump the image to std/out with all parent layers+all tags</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sudo docker save –o &lt;tar file&gt; &lt;image name&gt;</a:t>
            </a:r>
            <a:endParaRPr b="0" lang="en-US" sz="1900" spc="-1" strike="noStrike">
              <a:latin typeface="Arial"/>
            </a:endParaRPr>
          </a:p>
          <a:p>
            <a:pPr lvl="3" marL="18860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Restore:</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Restore an image from std/in </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sudo docker load –i &lt;tar file&gt;</a:t>
            </a:r>
            <a:endParaRPr b="0" lang="en-US" sz="1900" spc="-1" strike="noStrike">
              <a:latin typeface="Arial"/>
            </a:endParaRPr>
          </a:p>
        </p:txBody>
      </p:sp>
      <p:sp>
        <p:nvSpPr>
          <p:cNvPr id="4" name="PlaceHolder 3"/>
          <p:cNvSpPr>
            <a:spLocks noGrp="1"/>
          </p:cNvSpPr>
          <p:nvPr>
            <p:ph type="sldNum" idx="5"/>
          </p:nvPr>
        </p:nvSpPr>
        <p:spPr/>
        <p:txBody>
          <a:bodyPr/>
          <a:p>
            <a:fld id="{4C062D6F-DCDD-4B83-9FB9-03155E646829}" type="slidenum">
              <a:t>30</a:t>
            </a:fld>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Backup and Restore</a:t>
            </a:r>
            <a:endParaRPr b="0" lang="en-US" sz="3600" spc="-1" strike="noStrike">
              <a:latin typeface="Arial"/>
            </a:endParaRPr>
          </a:p>
        </p:txBody>
      </p:sp>
      <p:sp>
        <p:nvSpPr>
          <p:cNvPr id="159" name="PlaceHolder 2"/>
          <p:cNvSpPr>
            <a:spLocks noGrp="1"/>
          </p:cNvSpPr>
          <p:nvPr>
            <p:ph/>
          </p:nvPr>
        </p:nvSpPr>
        <p:spPr>
          <a:xfrm>
            <a:off x="780120" y="1718640"/>
            <a:ext cx="11174040" cy="4350600"/>
          </a:xfrm>
          <a:prstGeom prst="rect">
            <a:avLst/>
          </a:prstGeom>
          <a:noFill/>
          <a:ln w="0">
            <a:noFill/>
          </a:ln>
        </p:spPr>
        <p:txBody>
          <a:bodyPr lIns="90000" rIns="90000" tIns="45000" bIns="45000" anchor="t">
            <a:normAutofit fontScale="96000"/>
          </a:bodyPr>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Containers:</a:t>
            </a:r>
            <a:endParaRPr b="0" lang="en-US" sz="2000" spc="-1" strike="noStrike">
              <a:latin typeface="Arial"/>
            </a:endParaRPr>
          </a:p>
          <a:p>
            <a:pPr lvl="3" marL="18860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Backup:</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Dump a snapshot of container file system to std/out</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sudo docker export –o &lt;tar file&gt; &lt;container name&gt;</a:t>
            </a:r>
            <a:endParaRPr b="0" lang="en-US" sz="1900" spc="-1" strike="noStrike">
              <a:latin typeface="Arial"/>
            </a:endParaRPr>
          </a:p>
          <a:p>
            <a:pPr lvl="3" marL="18860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Restore:</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Extract the tar file into an image, which can be used to run a container</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sudo docker import –i &lt;tar file&gt;</a:t>
            </a:r>
            <a:endParaRPr b="0" lang="en-US" sz="1900" spc="-1" strike="noStrike">
              <a:latin typeface="Arial"/>
            </a:endParaRPr>
          </a:p>
        </p:txBody>
      </p:sp>
      <p:sp>
        <p:nvSpPr>
          <p:cNvPr id="4" name="PlaceHolder 3"/>
          <p:cNvSpPr>
            <a:spLocks noGrp="1"/>
          </p:cNvSpPr>
          <p:nvPr>
            <p:ph type="sldNum" idx="5"/>
          </p:nvPr>
        </p:nvSpPr>
        <p:spPr/>
        <p:txBody>
          <a:bodyPr/>
          <a:p>
            <a:fld id="{61DA2E80-E2E6-41AE-B586-989B590C8857}" type="slidenum">
              <a:t>31</a:t>
            </a:fld>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Backup and Restore</a:t>
            </a:r>
            <a:endParaRPr b="0" lang="en-US" sz="3600" spc="-1" strike="noStrike">
              <a:latin typeface="Arial"/>
            </a:endParaRPr>
          </a:p>
        </p:txBody>
      </p:sp>
      <p:sp>
        <p:nvSpPr>
          <p:cNvPr id="161" name="PlaceHolder 2"/>
          <p:cNvSpPr>
            <a:spLocks noGrp="1"/>
          </p:cNvSpPr>
          <p:nvPr>
            <p:ph/>
          </p:nvPr>
        </p:nvSpPr>
        <p:spPr>
          <a:xfrm>
            <a:off x="780120" y="1718640"/>
            <a:ext cx="11174040" cy="4350600"/>
          </a:xfrm>
          <a:prstGeom prst="rect">
            <a:avLst/>
          </a:prstGeom>
          <a:noFill/>
          <a:ln w="0">
            <a:noFill/>
          </a:ln>
        </p:spPr>
        <p:txBody>
          <a:bodyPr lIns="90000" rIns="90000" tIns="45000" bIns="45000" anchor="t">
            <a:normAutofit fontScale="96000"/>
          </a:bodyPr>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Volumes:</a:t>
            </a:r>
            <a:endParaRPr b="0" lang="en-US" sz="2000" spc="-1" strike="noStrike">
              <a:latin typeface="Arial"/>
            </a:endParaRPr>
          </a:p>
          <a:p>
            <a:pPr lvl="3" marL="18860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Backup:</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Create a temporarily container, and remove it after finish backup</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sudo docker run --rm --volumes-from &lt;container name&gt; -v $(pwd):/backup ubuntu tar cvf /backup/backup.tar &lt;Volume mount point&gt;</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--rm : Remove container after exit</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--volumes-from : mount all volumes from the &lt;container name&gt;</a:t>
            </a:r>
            <a:endParaRPr b="0" lang="en-US" sz="1900" spc="-1" strike="noStrike">
              <a:latin typeface="Arial"/>
            </a:endParaRPr>
          </a:p>
        </p:txBody>
      </p:sp>
      <p:sp>
        <p:nvSpPr>
          <p:cNvPr id="4" name="PlaceHolder 3"/>
          <p:cNvSpPr>
            <a:spLocks noGrp="1"/>
          </p:cNvSpPr>
          <p:nvPr>
            <p:ph type="sldNum" idx="5"/>
          </p:nvPr>
        </p:nvSpPr>
        <p:spPr/>
        <p:txBody>
          <a:bodyPr/>
          <a:p>
            <a:fld id="{34365279-364E-4CD9-9738-41A0CD187708}" type="slidenum">
              <a:t>32</a:t>
            </a:fld>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604440" y="0"/>
            <a:ext cx="10748520" cy="1208160"/>
          </a:xfrm>
          <a:prstGeom prst="rect">
            <a:avLst/>
          </a:prstGeom>
          <a:noFill/>
          <a:ln w="0">
            <a:noFill/>
          </a:ln>
        </p:spPr>
        <p:txBody>
          <a:bodyPr lIns="90000" rIns="90000" tIns="45000" bIns="45000" anchor="b">
            <a:noAutofit/>
          </a:bodyPr>
          <a:p>
            <a:pPr>
              <a:lnSpc>
                <a:spcPct val="100000"/>
              </a:lnSpc>
              <a:buNone/>
            </a:pPr>
            <a:r>
              <a:rPr b="0" lang="en-US" sz="3600" spc="-1" strike="noStrike">
                <a:solidFill>
                  <a:srgbClr val="ffffff"/>
                </a:solidFill>
                <a:latin typeface="Segoe UI Light"/>
              </a:rPr>
              <a:t>Backup and Restore</a:t>
            </a:r>
            <a:endParaRPr b="0" lang="en-US" sz="3600" spc="-1" strike="noStrike">
              <a:latin typeface="Arial"/>
            </a:endParaRPr>
          </a:p>
        </p:txBody>
      </p:sp>
      <p:sp>
        <p:nvSpPr>
          <p:cNvPr id="163" name="PlaceHolder 2"/>
          <p:cNvSpPr>
            <a:spLocks noGrp="1"/>
          </p:cNvSpPr>
          <p:nvPr>
            <p:ph/>
          </p:nvPr>
        </p:nvSpPr>
        <p:spPr>
          <a:xfrm>
            <a:off x="780120" y="1718640"/>
            <a:ext cx="11174040" cy="4350600"/>
          </a:xfrm>
          <a:prstGeom prst="rect">
            <a:avLst/>
          </a:prstGeom>
          <a:noFill/>
          <a:ln w="0">
            <a:noFill/>
          </a:ln>
        </p:spPr>
        <p:txBody>
          <a:bodyPr lIns="90000" rIns="90000" tIns="45000" bIns="45000" anchor="t">
            <a:normAutofit fontScale="94000"/>
          </a:bodyPr>
          <a:p>
            <a:pPr lvl="2" marL="1428840" indent="-285840">
              <a:lnSpc>
                <a:spcPct val="150000"/>
              </a:lnSpc>
              <a:spcBef>
                <a:spcPts val="601"/>
              </a:spcBef>
              <a:spcAft>
                <a:spcPts val="1199"/>
              </a:spcAft>
              <a:buClr>
                <a:srgbClr val="808080"/>
              </a:buClr>
              <a:buFont typeface="Arial"/>
              <a:buChar char="•"/>
            </a:pPr>
            <a:r>
              <a:rPr b="0" lang="en-US" sz="2000" spc="-1" strike="noStrike">
                <a:solidFill>
                  <a:srgbClr val="808080"/>
                </a:solidFill>
                <a:latin typeface="Segoe UI"/>
              </a:rPr>
              <a:t>Volumes:</a:t>
            </a:r>
            <a:endParaRPr b="0" lang="en-US" sz="2000" spc="-1" strike="noStrike">
              <a:latin typeface="Arial"/>
            </a:endParaRPr>
          </a:p>
          <a:p>
            <a:pPr lvl="3" marL="18860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Restore:</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Create a temporarily container, and remove it after finish restore</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sudo  docker run --rm --volumes-from &lt;container name&gt; -v $(pwd):/backup ubuntu bash -c "cd /dbdata &amp;&amp; tar xvf /backup/backup.tar --strip 1"</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--rm : Remove container after exit</a:t>
            </a:r>
            <a:endParaRPr b="0" lang="en-US" sz="1900" spc="-1" strike="noStrike">
              <a:latin typeface="Arial"/>
            </a:endParaRPr>
          </a:p>
          <a:p>
            <a:pPr lvl="4" marL="2343240" indent="-285840">
              <a:lnSpc>
                <a:spcPct val="150000"/>
              </a:lnSpc>
              <a:spcBef>
                <a:spcPts val="570"/>
              </a:spcBef>
              <a:spcAft>
                <a:spcPts val="1199"/>
              </a:spcAft>
              <a:buClr>
                <a:srgbClr val="808080"/>
              </a:buClr>
              <a:buFont typeface="Arial"/>
              <a:buChar char="•"/>
            </a:pPr>
            <a:r>
              <a:rPr b="0" lang="en-US" sz="1900" spc="-1" strike="noStrike">
                <a:solidFill>
                  <a:srgbClr val="808080"/>
                </a:solidFill>
                <a:latin typeface="Segoe UI"/>
              </a:rPr>
              <a:t>--volumes-from : mount all volumes from the &lt;container name&gt;</a:t>
            </a:r>
            <a:endParaRPr b="0" lang="en-US" sz="1900" spc="-1" strike="noStrike">
              <a:latin typeface="Arial"/>
            </a:endParaRPr>
          </a:p>
        </p:txBody>
      </p:sp>
      <p:sp>
        <p:nvSpPr>
          <p:cNvPr id="4" name="PlaceHolder 3"/>
          <p:cNvSpPr>
            <a:spLocks noGrp="1"/>
          </p:cNvSpPr>
          <p:nvPr>
            <p:ph type="sldNum" idx="5"/>
          </p:nvPr>
        </p:nvSpPr>
        <p:spPr/>
        <p:txBody>
          <a:bodyPr/>
          <a:p>
            <a:fld id="{BE7BD24B-7979-4B23-AB20-0599E6D6BF26}" type="slidenum">
              <a:t>33</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209326C46D84741BF15DC17C06576D1" ma:contentTypeVersion="14" ma:contentTypeDescription="Create a new document." ma:contentTypeScope="" ma:versionID="e57d1124aecb06ecd57771a70aea19bb">
  <xsd:schema xmlns:xsd="http://www.w3.org/2001/XMLSchema" xmlns:xs="http://www.w3.org/2001/XMLSchema" xmlns:p="http://schemas.microsoft.com/office/2006/metadata/properties" xmlns:ns2="c72bab13-828b-4810-92fd-eb322ac0571f" xmlns:ns3="d10cd27f-4163-459d-86ea-20e6bf370d4b" targetNamespace="http://schemas.microsoft.com/office/2006/metadata/properties" ma:root="true" ma:fieldsID="a6b6a231210a4f97ce83e660bb60ae81" ns2:_="" ns3:_="">
    <xsd:import namespace="c72bab13-828b-4810-92fd-eb322ac0571f"/>
    <xsd:import namespace="d10cd27f-4163-459d-86ea-20e6bf370d4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2bab13-828b-4810-92fd-eb322ac057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40513edf-9d01-408c-8f50-b47e619fdba3"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10cd27f-4163-459d-86ea-20e6bf370d4b"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c119c759-9d3e-4ab1-938c-0e51fa0f0849}" ma:internalName="TaxCatchAll" ma:showField="CatchAllData" ma:web="d10cd27f-4163-459d-86ea-20e6bf370d4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10cd27f-4163-459d-86ea-20e6bf370d4b" xsi:nil="true"/>
    <lcf76f155ced4ddcb4097134ff3c332f xmlns="c72bab13-828b-4810-92fd-eb322ac0571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8050F57-DFAB-4C5A-84AB-EBC6412856BB}">
  <ds:schemaRefs>
    <ds:schemaRef ds:uri="http://schemas.microsoft.com/sharepoint/v3/contenttype/forms"/>
  </ds:schemaRefs>
</ds:datastoreItem>
</file>

<file path=customXml/itemProps2.xml><?xml version="1.0" encoding="utf-8"?>
<ds:datastoreItem xmlns:ds="http://schemas.openxmlformats.org/officeDocument/2006/customXml" ds:itemID="{26F12A66-1C8B-478E-B361-DAB2B184A793}"/>
</file>

<file path=customXml/itemProps3.xml><?xml version="1.0" encoding="utf-8"?>
<ds:datastoreItem xmlns:ds="http://schemas.openxmlformats.org/officeDocument/2006/customXml" ds:itemID="{1A1DC89A-E19D-4EED-AB66-BB223723B1ED}">
  <ds:schemaRefs>
    <ds:schemaRef ds:uri="http://schemas.microsoft.com/office/2006/metadata/properties"/>
    <ds:schemaRef ds:uri="http://schemas.microsoft.com/office/infopath/2007/PartnerControls"/>
    <ds:schemaRef ds:uri="693eaeca-13ff-471b-a8bd-609b7b07837d"/>
    <ds:schemaRef ds:uri="b5edf82a-7d5a-4f16-aacc-1eedee5514c7"/>
  </ds:schemaRefs>
</ds:datastoreItem>
</file>

<file path=docProps/app.xml><?xml version="1.0" encoding="utf-8"?>
<Properties xmlns="http://schemas.openxmlformats.org/officeDocument/2006/extended-properties" xmlns:vt="http://schemas.openxmlformats.org/officeDocument/2006/docPropsVTypes">
  <Template>Welcome to PowerPoint</Template>
  <TotalTime>2256</TotalTime>
  <Application>LibreOffice/7.3.7.2$Linux_X86_64 LibreOffice_project/30$Build-2</Application>
  <AppVersion>15.0000</AppVersion>
  <Words>2212</Words>
  <Paragraphs>337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2016-01-04T19:20:51Z</dcterms:created>
  <dc:creator>Ahmed Said</dc:creator>
  <dc:description/>
  <dc:language>en-US</dc:language>
  <cp:lastModifiedBy/>
  <dcterms:modified xsi:type="dcterms:W3CDTF">2025-06-04T09:59:02Z</dcterms:modified>
  <cp:revision>281</cp:revision>
  <dc:subject/>
  <dc:title>Information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0x0101000209326C46D84741BF15DC17C06576D1</vt:lpwstr>
  </property>
  <property fmtid="{D5CDD505-2E9C-101B-9397-08002B2CF9AE}" pid="3" name="Notes">
    <vt:i4>30</vt:i4>
  </property>
  <property fmtid="{D5CDD505-2E9C-101B-9397-08002B2CF9AE}" pid="4" name="PresentationFormat">
    <vt:lpwstr>Widescreen</vt:lpwstr>
  </property>
  <property fmtid="{D5CDD505-2E9C-101B-9397-08002B2CF9AE}" pid="5" name="Slides">
    <vt:i4>33</vt:i4>
  </property>
  <property fmtid="{D5CDD505-2E9C-101B-9397-08002B2CF9AE}" pid="6" name="_TemplateID">
    <vt:lpwstr>TC029239449991</vt:lpwstr>
  </property>
</Properties>
</file>